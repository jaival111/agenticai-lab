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20CAB2-B3AF-952F-5D13-3500482CF780}">
          <p14:sldIdLst>
            <p14:sldId id="256"/>
          </p14:sldIdLst>
        </p14:section>
        <p14:section name="Papers" id="{E7EF84DB-F893-4B3A-A103-C01D71545648}">
          <p14:sldIdLst>
            <p14:sldId id="257"/>
          </p14:sldIdLst>
        </p14:section>
        <p14:section name="Primary paper" id="{FA633C62-6E80-C3F2-F6B4-731D2175B2C8}">
          <p14:sldIdLst>
            <p14:sldId id="258"/>
            <p14:sldId id="259"/>
          </p14:sldIdLst>
        </p14:section>
        <p14:section name="Gaps" id="{2EBB8C47-60D0-90FA-D3EA-12A34AD5BBE2}">
          <p14:sldIdLst>
            <p14:sldId id="260"/>
            <p14:sldId id="261"/>
          </p14:sldIdLst>
        </p14:section>
        <p14:section name="Objective" id="{2CB12CF8-008C-E926-B96B-0E7EB4A66427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B2A41"/>
                </a:solidFill>
                <a:latin typeface="+mn-lt"/>
              </a:rPr>
              <a:t>Black-box alignment with human consensus (%), Table 3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LLM-as-a-Judge</c:v>
                </c:pt>
              </c:strCache>
            </c:strRef>
          </c:tx>
          <c:spPr>
            <a:solidFill>
              <a:srgbClr val="6C7A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MetaGPT</c:v>
                </c:pt>
                <c:pt idx="1">
                  <c:v>GPT-Pilot</c:v>
                </c:pt>
                <c:pt idx="2">
                  <c:v>OpenHands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84.15</c:v>
                </c:pt>
                <c:pt idx="1">
                  <c:v>65.3</c:v>
                </c:pt>
                <c:pt idx="2">
                  <c:v>60.38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25-41B5-93E8-2DB9501BDD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Agent-as-a-Judge</c:v>
                </c:pt>
              </c:strCache>
            </c:strRef>
          </c:tx>
          <c:spPr>
            <a:solidFill>
              <a:srgbClr val="E09F3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MetaGPT</c:v>
                </c:pt>
                <c:pt idx="1">
                  <c:v>GPT-Pilot</c:v>
                </c:pt>
                <c:pt idx="2">
                  <c:v>OpenHands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88.52</c:v>
                </c:pt>
                <c:pt idx="1">
                  <c:v>83.88</c:v>
                </c:pt>
                <c:pt idx="2">
                  <c:v>90.44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25-41B5-93E8-2DB9501BDD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Avg. single human</c:v>
                </c:pt>
              </c:strCache>
            </c:strRef>
          </c:tx>
          <c:spPr>
            <a:solidFill>
              <a:srgbClr val="3A7D7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MetaGPT</c:v>
                </c:pt>
                <c:pt idx="1">
                  <c:v>GPT-Pilot</c:v>
                </c:pt>
                <c:pt idx="2">
                  <c:v>OpenHands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89.34</c:v>
                </c:pt>
                <c:pt idx="1">
                  <c:v>84.88</c:v>
                </c:pt>
                <c:pt idx="2">
                  <c:v>85.7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25-41B5-93E8-2DB9501BDD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C7A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87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evaluation of agents by agents, from the Evaluation, safety and governance unit. One sentence: the paper says an agent judge beats an LLM judge; my question is whether that holds when the two get the same budget and a small open-weight model.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paper is from ICML 2025 with public code and data, so it meets the venue and recency rules. The two context papers give the baseline (LLM-as-a-Judge) and the self-preference effect that one of my gaps relies on.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agent loop. Each requirement is judged separately: build a graph of the workspace, locate the files the requirement mentions, read them, optionally retrieve trajectory steps, then ask for a binary verdict. Search, planning and memory were tried and dropped (Appendix K). Developer agents ran on gpt-4o-2024-05-13 with a 30 min limit. ~60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result: in the black-box setting the agent judge reaches 88-90% agreement with the human consensus, roughly a single human, while the LLM judge falls to 60-65% on the two stronger developers. Point at the cost panel: the agent and the LLM judge cost almost the same money; this sets up Gap 1. ~60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1 is the one I will address. The two judges cost the same money, so the comparison is not about budget, but the baseline was never allowed to spend that budget, e.g. through voting. Gap 2: everything is a single run and the configuration was chosen on the reported labels; the text even quotes 92.07% for OpenHands while Table 3 shows 90.16%. ~60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3: judge and judged appear to share the GPT-4o family, which is where self-preference is known to appear, and no other family or open model is tried. Gap 4: because most requirements fail, raw alignment flatters a judge that says no; chance-corrected agreement is missing. Four gaps, four different kinds. ~60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slowly. The main comparison targets Gap 1: give the plain LLM judge the same number of tokens as the agent, through majority voting, and see if the agent still wins. Using a local open model touches Gap 3, and reporting kappa touches Gap 4, but Gap 1 is the one I commit to. ~50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workspaces, trajectories and all human labels are already in the authors' repository, so no developer agent needs to be re-run; only the judge calls a model. Everything runs locally on an open-weight 7B model, so the API cost is zero. Close with the week-by-week plan. ~50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AI465 Agentic AI · Research Project Phase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AI465 RESEARCH PROJECT · PHASE 1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Agent-as-a-Judge: does agentic judging still win at a matched budget?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Paper study, research gaps and one objective · Primary paper: Zhuge et al., ICML 2025</a:t>
            </a:r>
            <a:endParaRPr lang="en-US" sz="1800" dirty="0"/>
          </a:p>
        </p:txBody>
      </p:sp>
      <p:sp>
        <p:nvSpPr>
          <p:cNvPr id="5" name="t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Name: Jaival, Parth &amp; Vikram     Roll No.: 35, 87 &amp; 34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papers, one narrow problem: judging agents</a:t>
            </a:r>
            <a:endParaRPr lang="en-US" sz="2800" dirty="0"/>
          </a:p>
        </p:txBody>
      </p:sp>
      <p:sp>
        <p:nvSpPr>
          <p:cNvPr id="3" name="r3"/>
          <p:cNvSpPr/>
          <p:nvPr/>
        </p:nvSpPr>
        <p:spPr>
          <a:xfrm>
            <a:off x="457200" y="1188720"/>
            <a:ext cx="2615184" cy="32918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4" name="r4"/>
          <p:cNvSpPr/>
          <p:nvPr/>
        </p:nvSpPr>
        <p:spPr>
          <a:xfrm>
            <a:off x="685800" y="1417320"/>
            <a:ext cx="100584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5" name="t5"/>
          <p:cNvSpPr txBox="1"/>
          <p:nvPr/>
        </p:nvSpPr>
        <p:spPr>
          <a:xfrm>
            <a:off x="685800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PRIMARY</a:t>
            </a:r>
            <a:endParaRPr lang="en-US" sz="1000" dirty="0"/>
          </a:p>
        </p:txBody>
      </p:sp>
      <p:sp>
        <p:nvSpPr>
          <p:cNvPr id="6" name="t6"/>
          <p:cNvSpPr txBox="1"/>
          <p:nvPr/>
        </p:nvSpPr>
        <p:spPr>
          <a:xfrm>
            <a:off x="685800" y="187452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Agent-as-a-Judge: Evaluate Agents with Agents</a:t>
            </a:r>
            <a:endParaRPr lang="en-US" sz="1500" dirty="0"/>
          </a:p>
        </p:txBody>
      </p:sp>
      <p:sp>
        <p:nvSpPr>
          <p:cNvPr id="7" name="t7"/>
          <p:cNvSpPr txBox="1"/>
          <p:nvPr/>
        </p:nvSpPr>
        <p:spPr>
          <a:xfrm>
            <a:off x="685800" y="297180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Zhuge, Zhao, Ashley, … Schmidhuber</a:t>
            </a:r>
            <a:endParaRPr lang="en-US" sz="1100" dirty="0"/>
          </a:p>
        </p:txBody>
      </p:sp>
      <p:sp>
        <p:nvSpPr>
          <p:cNvPr id="8" name="t8"/>
          <p:cNvSpPr txBox="1"/>
          <p:nvPr/>
        </p:nvSpPr>
        <p:spPr>
          <a:xfrm>
            <a:off x="685800" y="33832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ICML 2025 · arXiv 2410.10934 · public code + DevAI data</a:t>
            </a:r>
            <a:endParaRPr lang="en-US" sz="1100" dirty="0"/>
          </a:p>
        </p:txBody>
      </p:sp>
      <p:sp>
        <p:nvSpPr>
          <p:cNvPr id="9" name="t9"/>
          <p:cNvSpPr txBox="1"/>
          <p:nvPr/>
        </p:nvSpPr>
        <p:spPr>
          <a:xfrm>
            <a:off x="685800" y="3840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Introduces the agent judge and the DevAI benchmark</a:t>
            </a:r>
            <a:endParaRPr lang="en-US" sz="1200" dirty="0"/>
          </a:p>
        </p:txBody>
      </p:sp>
      <p:sp>
        <p:nvSpPr>
          <p:cNvPr id="10" name="r10"/>
          <p:cNvSpPr/>
          <p:nvPr/>
        </p:nvSpPr>
        <p:spPr>
          <a:xfrm>
            <a:off x="3264408" y="1188720"/>
            <a:ext cx="2615184" cy="32918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1" name="r11"/>
          <p:cNvSpPr/>
          <p:nvPr/>
        </p:nvSpPr>
        <p:spPr>
          <a:xfrm>
            <a:off x="3493008" y="1417320"/>
            <a:ext cx="100584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12" name="t12"/>
          <p:cNvSpPr txBox="1"/>
          <p:nvPr/>
        </p:nvSpPr>
        <p:spPr>
          <a:xfrm>
            <a:off x="3493008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CONTEXT</a:t>
            </a:r>
            <a:endParaRPr lang="en-US" sz="1000" dirty="0"/>
          </a:p>
        </p:txBody>
      </p:sp>
      <p:sp>
        <p:nvSpPr>
          <p:cNvPr id="13" name="t13"/>
          <p:cNvSpPr txBox="1"/>
          <p:nvPr/>
        </p:nvSpPr>
        <p:spPr>
          <a:xfrm>
            <a:off x="3493008" y="187452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Judging LLM-as-a-Judge with MT-Bench and Chatbot Arena</a:t>
            </a:r>
            <a:endParaRPr lang="en-US" sz="1500" dirty="0"/>
          </a:p>
        </p:txBody>
      </p:sp>
      <p:sp>
        <p:nvSpPr>
          <p:cNvPr id="14" name="t14"/>
          <p:cNvSpPr txBox="1"/>
          <p:nvPr/>
        </p:nvSpPr>
        <p:spPr>
          <a:xfrm>
            <a:off x="3493008" y="297180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Zheng, Chiang, Sheng, et al.</a:t>
            </a:r>
            <a:endParaRPr lang="en-US" sz="1100" dirty="0"/>
          </a:p>
        </p:txBody>
      </p:sp>
      <p:sp>
        <p:nvSpPr>
          <p:cNvPr id="15" name="t15"/>
          <p:cNvSpPr txBox="1"/>
          <p:nvPr/>
        </p:nvSpPr>
        <p:spPr>
          <a:xfrm>
            <a:off x="3493008" y="33832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NeurIPS 2023 · Datasets &amp; Benchmarks</a:t>
            </a:r>
            <a:endParaRPr lang="en-US" sz="1100" dirty="0"/>
          </a:p>
        </p:txBody>
      </p:sp>
      <p:sp>
        <p:nvSpPr>
          <p:cNvPr id="16" name="t16"/>
          <p:cNvSpPr txBox="1"/>
          <p:nvPr/>
        </p:nvSpPr>
        <p:spPr>
          <a:xfrm>
            <a:off x="3493008" y="3840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Defines the LLM-as-a-Judge baseline and its biases</a:t>
            </a:r>
            <a:endParaRPr lang="en-US" sz="1200" dirty="0"/>
          </a:p>
        </p:txBody>
      </p:sp>
      <p:sp>
        <p:nvSpPr>
          <p:cNvPr id="17" name="r17"/>
          <p:cNvSpPr/>
          <p:nvPr/>
        </p:nvSpPr>
        <p:spPr>
          <a:xfrm>
            <a:off x="6071616" y="1188720"/>
            <a:ext cx="2615184" cy="329184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8" name="r18"/>
          <p:cNvSpPr/>
          <p:nvPr/>
        </p:nvSpPr>
        <p:spPr>
          <a:xfrm>
            <a:off x="6300216" y="1417320"/>
            <a:ext cx="100584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19" name="t19"/>
          <p:cNvSpPr txBox="1"/>
          <p:nvPr/>
        </p:nvSpPr>
        <p:spPr>
          <a:xfrm>
            <a:off x="6300216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CONTEXT</a:t>
            </a:r>
            <a:endParaRPr lang="en-US" sz="1000" dirty="0"/>
          </a:p>
        </p:txBody>
      </p:sp>
      <p:sp>
        <p:nvSpPr>
          <p:cNvPr id="20" name="t20"/>
          <p:cNvSpPr txBox="1"/>
          <p:nvPr/>
        </p:nvSpPr>
        <p:spPr>
          <a:xfrm>
            <a:off x="6300216" y="187452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Evaluators Recognize and Favor Their Own Generations</a:t>
            </a:r>
            <a:endParaRPr lang="en-US" sz="1500" dirty="0"/>
          </a:p>
        </p:txBody>
      </p:sp>
      <p:sp>
        <p:nvSpPr>
          <p:cNvPr id="21" name="t21"/>
          <p:cNvSpPr txBox="1"/>
          <p:nvPr/>
        </p:nvSpPr>
        <p:spPr>
          <a:xfrm>
            <a:off x="6300216" y="297180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Panickssery, Bowman, Feng</a:t>
            </a:r>
            <a:endParaRPr lang="en-US" sz="1100" dirty="0"/>
          </a:p>
        </p:txBody>
      </p:sp>
      <p:sp>
        <p:nvSpPr>
          <p:cNvPr id="22" name="t22"/>
          <p:cNvSpPr txBox="1"/>
          <p:nvPr/>
        </p:nvSpPr>
        <p:spPr>
          <a:xfrm>
            <a:off x="6300216" y="33832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NeurIPS 2024</a:t>
            </a:r>
            <a:endParaRPr lang="en-US" sz="1100" dirty="0"/>
          </a:p>
        </p:txBody>
      </p:sp>
      <p:sp>
        <p:nvSpPr>
          <p:cNvPr id="23" name="t23"/>
          <p:cNvSpPr txBox="1"/>
          <p:nvPr/>
        </p:nvSpPr>
        <p:spPr>
          <a:xfrm>
            <a:off x="6300216" y="38404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Shows self-preference when judge and judged share a model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Problem: an LLM judge cannot open the files</a:t>
            </a:r>
            <a:endParaRPr lang="en-US" sz="2800" dirty="0"/>
          </a:p>
        </p:txBody>
      </p:sp>
      <p:sp>
        <p:nvSpPr>
          <p:cNvPr id="3" name="t24"/>
          <p:cNvSpPr txBox="1"/>
          <p:nvPr/>
        </p:nvSpPr>
        <p:spPr>
          <a:xfrm>
            <a:off x="45720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000" dirty="0"/>
          </a:p>
        </p:txBody>
      </p:sp>
      <p:sp>
        <p:nvSpPr>
          <p:cNvPr id="4" name="t25"/>
          <p:cNvSpPr txBox="1"/>
          <p:nvPr/>
        </p:nvSpPr>
        <p:spPr>
          <a:xfrm>
            <a:off x="4572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AI-dev tasks</a:t>
            </a:r>
            <a:endParaRPr lang="en-US" sz="1200" dirty="0"/>
          </a:p>
        </p:txBody>
      </p:sp>
      <p:sp>
        <p:nvSpPr>
          <p:cNvPr id="5" name="t26"/>
          <p:cNvSpPr txBox="1"/>
          <p:nvPr/>
        </p:nvSpPr>
        <p:spPr>
          <a:xfrm>
            <a:off x="457200" y="23042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4000" dirty="0"/>
          </a:p>
        </p:txBody>
      </p:sp>
      <p:sp>
        <p:nvSpPr>
          <p:cNvPr id="6" name="t27"/>
          <p:cNvSpPr txBox="1"/>
          <p:nvPr/>
        </p:nvSpPr>
        <p:spPr>
          <a:xfrm>
            <a:off x="457200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binary requirements (DAG)</a:t>
            </a:r>
            <a:endParaRPr lang="en-US" sz="1200" dirty="0"/>
          </a:p>
        </p:txBody>
      </p:sp>
      <p:sp>
        <p:nvSpPr>
          <p:cNvPr id="7" name="t28"/>
          <p:cNvSpPr txBox="1"/>
          <p:nvPr/>
        </p:nvSpPr>
        <p:spPr>
          <a:xfrm>
            <a:off x="457200" y="34198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29"/>
          <p:cNvSpPr txBox="1"/>
          <p:nvPr/>
        </p:nvSpPr>
        <p:spPr>
          <a:xfrm>
            <a:off x="457200" y="40599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developer agents graded</a:t>
            </a:r>
            <a:endParaRPr lang="en-US" sz="1200" dirty="0"/>
          </a:p>
        </p:txBody>
      </p:sp>
      <p:sp>
        <p:nvSpPr>
          <p:cNvPr id="9" name="t30"/>
          <p:cNvSpPr txBox="1"/>
          <p:nvPr/>
        </p:nvSpPr>
        <p:spPr>
          <a:xfrm>
            <a:off x="45720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DevAI benchmark · human consensus labels (86.5 h)</a:t>
            </a:r>
            <a:endParaRPr lang="en-US" sz="1000" dirty="0"/>
          </a:p>
        </p:txBody>
      </p:sp>
      <p:sp>
        <p:nvSpPr>
          <p:cNvPr id="10" name="t31"/>
          <p:cNvSpPr txBox="1"/>
          <p:nvPr/>
        </p:nvSpPr>
        <p:spPr>
          <a:xfrm>
            <a:off x="3291840" y="1143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Agent-as-a-Judge, per requirement</a:t>
            </a:r>
            <a:endParaRPr lang="en-US" sz="1400" dirty="0"/>
          </a:p>
        </p:txBody>
      </p:sp>
      <p:sp>
        <p:nvSpPr>
          <p:cNvPr id="11" name="b32"/>
          <p:cNvSpPr/>
          <p:nvPr/>
        </p:nvSpPr>
        <p:spPr>
          <a:xfrm>
            <a:off x="3291840" y="15544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33"/>
          <p:cNvSpPr txBox="1"/>
          <p:nvPr/>
        </p:nvSpPr>
        <p:spPr>
          <a:xfrm>
            <a:off x="32918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r34"/>
          <p:cNvSpPr/>
          <p:nvPr/>
        </p:nvSpPr>
        <p:spPr>
          <a:xfrm>
            <a:off x="3840480" y="1554480"/>
            <a:ext cx="484632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14" name="t35"/>
          <p:cNvSpPr txBox="1"/>
          <p:nvPr/>
        </p:nvSpPr>
        <p:spPr>
          <a:xfrm>
            <a:off x="3977640" y="15544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graph</a:t>
            </a:r>
            <a:r>
              <a:rPr lang="en-US" sz="1300" dirty="0">
                <a:solidFill>
                  <a:schemeClr val="tx2"/>
                </a:solidFill>
              </a:rPr>
              <a:t>   map workspace</a:t>
            </a:r>
            <a:endParaRPr lang="en-US" sz="1300" dirty="0"/>
          </a:p>
        </p:txBody>
      </p:sp>
      <p:sp>
        <p:nvSpPr>
          <p:cNvPr id="15" name="b36"/>
          <p:cNvSpPr/>
          <p:nvPr/>
        </p:nvSpPr>
        <p:spPr>
          <a:xfrm>
            <a:off x="3291840" y="215798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37"/>
          <p:cNvSpPr txBox="1"/>
          <p:nvPr/>
        </p:nvSpPr>
        <p:spPr>
          <a:xfrm>
            <a:off x="329184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r38"/>
          <p:cNvSpPr/>
          <p:nvPr/>
        </p:nvSpPr>
        <p:spPr>
          <a:xfrm>
            <a:off x="3840480" y="2157984"/>
            <a:ext cx="484632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18" name="t39"/>
          <p:cNvSpPr txBox="1"/>
          <p:nvPr/>
        </p:nvSpPr>
        <p:spPr>
          <a:xfrm>
            <a:off x="3977640" y="215798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locate</a:t>
            </a:r>
            <a:r>
              <a:rPr lang="en-US" sz="1300" dirty="0">
                <a:solidFill>
                  <a:schemeClr val="tx2"/>
                </a:solidFill>
              </a:rPr>
              <a:t>   find target files</a:t>
            </a:r>
            <a:endParaRPr lang="en-US" sz="1300" dirty="0"/>
          </a:p>
        </p:txBody>
      </p:sp>
      <p:sp>
        <p:nvSpPr>
          <p:cNvPr id="19" name="b40"/>
          <p:cNvSpPr/>
          <p:nvPr/>
        </p:nvSpPr>
        <p:spPr>
          <a:xfrm>
            <a:off x="3291840" y="276148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41"/>
          <p:cNvSpPr txBox="1"/>
          <p:nvPr/>
        </p:nvSpPr>
        <p:spPr>
          <a:xfrm>
            <a:off x="32918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r42"/>
          <p:cNvSpPr/>
          <p:nvPr/>
        </p:nvSpPr>
        <p:spPr>
          <a:xfrm>
            <a:off x="3840480" y="2761488"/>
            <a:ext cx="484632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22" name="t43"/>
          <p:cNvSpPr txBox="1"/>
          <p:nvPr/>
        </p:nvSpPr>
        <p:spPr>
          <a:xfrm>
            <a:off x="3977640" y="276148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</a:t>
            </a:r>
            <a:r>
              <a:rPr lang="en-US" sz="1300" dirty="0">
                <a:solidFill>
                  <a:schemeClr val="tx2"/>
                </a:solidFill>
              </a:rPr>
              <a:t>   open file contents</a:t>
            </a:r>
            <a:endParaRPr lang="en-US" sz="1300" dirty="0"/>
          </a:p>
        </p:txBody>
      </p:sp>
      <p:sp>
        <p:nvSpPr>
          <p:cNvPr id="23" name="b44"/>
          <p:cNvSpPr/>
          <p:nvPr/>
        </p:nvSpPr>
        <p:spPr>
          <a:xfrm>
            <a:off x="3291840" y="3364992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45"/>
          <p:cNvSpPr txBox="1"/>
          <p:nvPr/>
        </p:nvSpPr>
        <p:spPr>
          <a:xfrm>
            <a:off x="3291840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r46"/>
          <p:cNvSpPr/>
          <p:nvPr/>
        </p:nvSpPr>
        <p:spPr>
          <a:xfrm>
            <a:off x="3840480" y="3364992"/>
            <a:ext cx="484632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26" name="t47"/>
          <p:cNvSpPr txBox="1"/>
          <p:nvPr/>
        </p:nvSpPr>
        <p:spPr>
          <a:xfrm>
            <a:off x="3977640" y="336499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retrieve</a:t>
            </a:r>
            <a:r>
              <a:rPr lang="en-US" sz="1300" dirty="0">
                <a:solidFill>
                  <a:schemeClr val="tx2"/>
                </a:solidFill>
              </a:rPr>
              <a:t>   trajectory steps (gray-box)</a:t>
            </a:r>
            <a:endParaRPr lang="en-US" sz="1300" dirty="0"/>
          </a:p>
        </p:txBody>
      </p:sp>
      <p:sp>
        <p:nvSpPr>
          <p:cNvPr id="27" name="b48"/>
          <p:cNvSpPr/>
          <p:nvPr/>
        </p:nvSpPr>
        <p:spPr>
          <a:xfrm>
            <a:off x="3291840" y="396849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49"/>
          <p:cNvSpPr txBox="1"/>
          <p:nvPr/>
        </p:nvSpPr>
        <p:spPr>
          <a:xfrm>
            <a:off x="3291840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r50"/>
          <p:cNvSpPr/>
          <p:nvPr/>
        </p:nvSpPr>
        <p:spPr>
          <a:xfrm>
            <a:off x="3840480" y="3968496"/>
            <a:ext cx="4846320" cy="420624"/>
          </a:xfrm>
          <a:prstGeom prst="roundRect">
            <a:avLst>
              <a:gd name="adj" fmla="val 17391"/>
            </a:avLst>
          </a:prstGeom>
          <a:solidFill>
            <a:schemeClr val="bg2"/>
          </a:solidFill>
          <a:ln/>
        </p:spPr>
      </p:sp>
      <p:sp>
        <p:nvSpPr>
          <p:cNvPr id="30" name="t51"/>
          <p:cNvSpPr txBox="1"/>
          <p:nvPr/>
        </p:nvSpPr>
        <p:spPr>
          <a:xfrm>
            <a:off x="3977640" y="396849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ask</a:t>
            </a:r>
            <a:r>
              <a:rPr lang="en-US" sz="1300" dirty="0">
                <a:solidFill>
                  <a:schemeClr val="tx2"/>
                </a:solidFill>
              </a:rPr>
              <a:t>   SATISFIED / UNSATISFIED</a:t>
            </a:r>
            <a:endParaRPr lang="en-US" sz="1300" dirty="0"/>
          </a:p>
        </p:txBody>
      </p:sp>
      <p:sp>
        <p:nvSpPr>
          <p:cNvPr id="31" name="t52"/>
          <p:cNvSpPr txBox="1"/>
          <p:nvPr/>
        </p:nvSpPr>
        <p:spPr>
          <a:xfrm>
            <a:off x="3291840" y="45262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Baseline LLM-as-a-Judge: one call that sees a text dump of the workspace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Reported: agent judge ≈ a single human</a:t>
            </a:r>
            <a:endParaRPr lang="en-US" sz="2800" dirty="0"/>
          </a:p>
        </p:txBody>
      </p:sp>
      <p:graphicFrame>
        <p:nvGraphicFramePr>
          <p:cNvPr id="3" name="results chart"/>
          <p:cNvGraphicFramePr/>
          <p:nvPr/>
        </p:nvGraphicFramePr>
        <p:xfrm>
          <a:off x="365760" y="105156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53"/>
          <p:cNvSpPr/>
          <p:nvPr/>
        </p:nvSpPr>
        <p:spPr>
          <a:xfrm>
            <a:off x="5748609" y="1325880"/>
            <a:ext cx="2926080" cy="34290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54"/>
          <p:cNvSpPr txBox="1"/>
          <p:nvPr/>
        </p:nvSpPr>
        <p:spPr>
          <a:xfrm>
            <a:off x="594360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Cost of one full DevAI evaluation (§4.4)</a:t>
            </a:r>
            <a:endParaRPr lang="en-US" sz="1200" dirty="0"/>
          </a:p>
        </p:txBody>
      </p:sp>
      <p:sp>
        <p:nvSpPr>
          <p:cNvPr id="6" name="t55"/>
          <p:cNvSpPr txBox="1"/>
          <p:nvPr/>
        </p:nvSpPr>
        <p:spPr>
          <a:xfrm>
            <a:off x="594360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$30.58</a:t>
            </a:r>
            <a:endParaRPr lang="en-US" sz="2400" dirty="0"/>
          </a:p>
        </p:txBody>
      </p:sp>
      <p:sp>
        <p:nvSpPr>
          <p:cNvPr id="7" name="t56"/>
          <p:cNvSpPr txBox="1"/>
          <p:nvPr/>
        </p:nvSpPr>
        <p:spPr>
          <a:xfrm>
            <a:off x="736092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118 min</a:t>
            </a:r>
            <a:endParaRPr lang="en-US" sz="1400" dirty="0"/>
          </a:p>
        </p:txBody>
      </p:sp>
      <p:sp>
        <p:nvSpPr>
          <p:cNvPr id="8" name="t57"/>
          <p:cNvSpPr txBox="1"/>
          <p:nvPr/>
        </p:nvSpPr>
        <p:spPr>
          <a:xfrm>
            <a:off x="594360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Agent-as-a-Judge</a:t>
            </a:r>
            <a:endParaRPr lang="en-US" sz="1100" dirty="0"/>
          </a:p>
        </p:txBody>
      </p:sp>
      <p:sp>
        <p:nvSpPr>
          <p:cNvPr id="9" name="t58"/>
          <p:cNvSpPr txBox="1"/>
          <p:nvPr/>
        </p:nvSpPr>
        <p:spPr>
          <a:xfrm>
            <a:off x="594360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$29.63</a:t>
            </a:r>
            <a:endParaRPr lang="en-US" sz="2400" dirty="0"/>
          </a:p>
        </p:txBody>
      </p:sp>
      <p:sp>
        <p:nvSpPr>
          <p:cNvPr id="10" name="t59"/>
          <p:cNvSpPr txBox="1"/>
          <p:nvPr/>
        </p:nvSpPr>
        <p:spPr>
          <a:xfrm>
            <a:off x="73609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11 min</a:t>
            </a:r>
            <a:endParaRPr lang="en-US" sz="1400" dirty="0"/>
          </a:p>
        </p:txBody>
      </p:sp>
      <p:sp>
        <p:nvSpPr>
          <p:cNvPr id="11" name="t60"/>
          <p:cNvSpPr txBox="1"/>
          <p:nvPr/>
        </p:nvSpPr>
        <p:spPr>
          <a:xfrm>
            <a:off x="59436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LLM-as-a-Judge</a:t>
            </a:r>
            <a:endParaRPr lang="en-US" sz="1100" dirty="0"/>
          </a:p>
        </p:txBody>
      </p:sp>
      <p:sp>
        <p:nvSpPr>
          <p:cNvPr id="12" name="t61"/>
          <p:cNvSpPr txBox="1"/>
          <p:nvPr/>
        </p:nvSpPr>
        <p:spPr>
          <a:xfrm>
            <a:off x="594360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$1,297</a:t>
            </a:r>
            <a:endParaRPr lang="en-US" sz="2400" dirty="0"/>
          </a:p>
        </p:txBody>
      </p:sp>
      <p:sp>
        <p:nvSpPr>
          <p:cNvPr id="13" name="t62"/>
          <p:cNvSpPr txBox="1"/>
          <p:nvPr/>
        </p:nvSpPr>
        <p:spPr>
          <a:xfrm>
            <a:off x="7360920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86.5 h</a:t>
            </a:r>
            <a:endParaRPr lang="en-US" sz="1400" dirty="0"/>
          </a:p>
        </p:txBody>
      </p:sp>
      <p:sp>
        <p:nvSpPr>
          <p:cNvPr id="14" name="t63"/>
          <p:cNvSpPr txBox="1"/>
          <p:nvPr/>
        </p:nvSpPr>
        <p:spPr>
          <a:xfrm>
            <a:off x="5943600" y="4023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3 human experts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Gaps 1–2: cost and reliability</a:t>
            </a:r>
            <a:endParaRPr lang="en-US" sz="2800" dirty="0"/>
          </a:p>
        </p:txBody>
      </p:sp>
      <p:sp>
        <p:nvSpPr>
          <p:cNvPr id="3" name="r64"/>
          <p:cNvSpPr/>
          <p:nvPr/>
        </p:nvSpPr>
        <p:spPr>
          <a:xfrm>
            <a:off x="457200" y="114300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b65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66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G1</a:t>
            </a:r>
            <a:endParaRPr lang="en-US" sz="1500" dirty="0"/>
          </a:p>
        </p:txBody>
      </p:sp>
      <p:sp>
        <p:nvSpPr>
          <p:cNvPr id="6" name="t67"/>
          <p:cNvSpPr txBox="1"/>
          <p:nvPr/>
        </p:nvSpPr>
        <p:spPr>
          <a:xfrm>
            <a:off x="1325880" y="13441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matched-budget baseline</a:t>
            </a:r>
            <a:endParaRPr lang="en-US" sz="1500" dirty="0"/>
          </a:p>
        </p:txBody>
      </p:sp>
      <p:sp>
        <p:nvSpPr>
          <p:cNvPr id="7" name="r68"/>
          <p:cNvSpPr/>
          <p:nvPr/>
        </p:nvSpPr>
        <p:spPr>
          <a:xfrm>
            <a:off x="685800" y="2039112"/>
            <a:ext cx="356616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</p:sp>
      <p:sp>
        <p:nvSpPr>
          <p:cNvPr id="8" name="t69"/>
          <p:cNvSpPr txBox="1"/>
          <p:nvPr/>
        </p:nvSpPr>
        <p:spPr>
          <a:xfrm>
            <a:off x="777240" y="2039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Cost / latency · evidence §4.4</a:t>
            </a:r>
            <a:endParaRPr lang="en-US" sz="1100" dirty="0"/>
          </a:p>
        </p:txBody>
      </p:sp>
      <p:sp>
        <p:nvSpPr>
          <p:cNvPr id="9" name="t70"/>
          <p:cNvSpPr txBox="1"/>
          <p:nvPr/>
        </p:nvSpPr>
        <p:spPr>
          <a:xfrm>
            <a:off x="685800" y="24688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Agent $30.58 / 118 min vs LLM judge $29.63 / 11 min: same money, ~10× slower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No tokens or calls per requirement reported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LLM judge is one sample; never given majority voting at equal budget</a:t>
            </a:r>
            <a:endParaRPr lang="en-US" sz="1300" dirty="0"/>
          </a:p>
        </p:txBody>
      </p:sp>
      <p:sp>
        <p:nvSpPr>
          <p:cNvPr id="10" name="r71"/>
          <p:cNvSpPr/>
          <p:nvPr/>
        </p:nvSpPr>
        <p:spPr>
          <a:xfrm>
            <a:off x="4663440" y="114300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1" name="b72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73"/>
          <p:cNvSpPr txBox="1"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G2</a:t>
            </a:r>
            <a:endParaRPr lang="en-US" sz="1500" dirty="0"/>
          </a:p>
        </p:txBody>
      </p:sp>
      <p:sp>
        <p:nvSpPr>
          <p:cNvPr id="13" name="t74"/>
          <p:cNvSpPr txBox="1"/>
          <p:nvPr/>
        </p:nvSpPr>
        <p:spPr>
          <a:xfrm>
            <a:off x="5532120" y="13441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Single runs, tuned on test labels</a:t>
            </a:r>
            <a:endParaRPr lang="en-US" sz="1500" dirty="0"/>
          </a:p>
        </p:txBody>
      </p:sp>
      <p:sp>
        <p:nvSpPr>
          <p:cNvPr id="14" name="r75"/>
          <p:cNvSpPr/>
          <p:nvPr/>
        </p:nvSpPr>
        <p:spPr>
          <a:xfrm>
            <a:off x="4892040" y="2039112"/>
            <a:ext cx="356616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</p:sp>
      <p:sp>
        <p:nvSpPr>
          <p:cNvPr id="15" name="t76"/>
          <p:cNvSpPr txBox="1"/>
          <p:nvPr/>
        </p:nvSpPr>
        <p:spPr>
          <a:xfrm>
            <a:off x="4983480" y="2039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Reliability · evidence Tables 3–5, App. K</a:t>
            </a:r>
            <a:endParaRPr lang="en-US" sz="1100" dirty="0"/>
          </a:p>
        </p:txBody>
      </p:sp>
      <p:sp>
        <p:nvSpPr>
          <p:cNvPr id="16" name="t77"/>
          <p:cNvSpPr txBox="1"/>
          <p:nvPr/>
        </p:nvSpPr>
        <p:spPr>
          <a:xfrm>
            <a:off x="4892040" y="24688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One run per configuration, no std, no temperature or seed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Modules kept or dropped by alignment on the same OpenHands labels that are reported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Decisions rest on &lt;2-point gaps (90.44 vs 90.16 vs 88.52)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Gaps 3–4: generality and evaluation</a:t>
            </a:r>
            <a:endParaRPr lang="en-US" sz="2800" dirty="0"/>
          </a:p>
        </p:txBody>
      </p:sp>
      <p:sp>
        <p:nvSpPr>
          <p:cNvPr id="3" name="r78"/>
          <p:cNvSpPr/>
          <p:nvPr/>
        </p:nvSpPr>
        <p:spPr>
          <a:xfrm>
            <a:off x="457200" y="114300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b79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80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G3</a:t>
            </a:r>
            <a:endParaRPr lang="en-US" sz="1500" dirty="0"/>
          </a:p>
        </p:txBody>
      </p:sp>
      <p:sp>
        <p:nvSpPr>
          <p:cNvPr id="6" name="t81"/>
          <p:cNvSpPr txBox="1"/>
          <p:nvPr/>
        </p:nvSpPr>
        <p:spPr>
          <a:xfrm>
            <a:off x="1325880" y="13441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model family judges itself</a:t>
            </a:r>
            <a:endParaRPr lang="en-US" sz="1500" dirty="0"/>
          </a:p>
        </p:txBody>
      </p:sp>
      <p:sp>
        <p:nvSpPr>
          <p:cNvPr id="7" name="r82"/>
          <p:cNvSpPr/>
          <p:nvPr/>
        </p:nvSpPr>
        <p:spPr>
          <a:xfrm>
            <a:off x="685800" y="2039112"/>
            <a:ext cx="356616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</p:sp>
      <p:sp>
        <p:nvSpPr>
          <p:cNvPr id="8" name="t83"/>
          <p:cNvSpPr txBox="1"/>
          <p:nvPr/>
        </p:nvSpPr>
        <p:spPr>
          <a:xfrm>
            <a:off x="777240" y="2039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Generality · evidence §2.3, released code</a:t>
            </a:r>
            <a:endParaRPr lang="en-US" sz="1100" dirty="0"/>
          </a:p>
        </p:txBody>
      </p:sp>
      <p:sp>
        <p:nvSpPr>
          <p:cNvPr id="9" name="t84"/>
          <p:cNvSpPr txBox="1"/>
          <p:nvPr/>
        </p:nvSpPr>
        <p:spPr>
          <a:xfrm>
            <a:off x="685800" y="24688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Developer agents run on gpt-4o-2024-05-13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Judge backbone not named in §4; released code defaults to gpt-4o-2024-08-06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Self-preference [Panickssery 2024] untested; no open-weight judge</a:t>
            </a:r>
            <a:endParaRPr lang="en-US" sz="1300" dirty="0"/>
          </a:p>
        </p:txBody>
      </p:sp>
      <p:sp>
        <p:nvSpPr>
          <p:cNvPr id="10" name="r85"/>
          <p:cNvSpPr/>
          <p:nvPr/>
        </p:nvSpPr>
        <p:spPr>
          <a:xfrm>
            <a:off x="4663440" y="114300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1" name="b86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87"/>
          <p:cNvSpPr txBox="1"/>
          <p:nvPr/>
        </p:nvSpPr>
        <p:spPr>
          <a:xfrm>
            <a:off x="4892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G4</a:t>
            </a:r>
            <a:endParaRPr lang="en-US" sz="1500" dirty="0"/>
          </a:p>
        </p:txBody>
      </p:sp>
      <p:sp>
        <p:nvSpPr>
          <p:cNvPr id="13" name="t88"/>
          <p:cNvSpPr txBox="1"/>
          <p:nvPr/>
        </p:nvSpPr>
        <p:spPr>
          <a:xfrm>
            <a:off x="5532120" y="13441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Imbalanced labels, raw agreement</a:t>
            </a:r>
            <a:endParaRPr lang="en-US" sz="1500" dirty="0"/>
          </a:p>
        </p:txBody>
      </p:sp>
      <p:sp>
        <p:nvSpPr>
          <p:cNvPr id="14" name="r89"/>
          <p:cNvSpPr/>
          <p:nvPr/>
        </p:nvSpPr>
        <p:spPr>
          <a:xfrm>
            <a:off x="4892040" y="2039112"/>
            <a:ext cx="3566160" cy="292608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/>
        </p:spPr>
      </p:sp>
      <p:sp>
        <p:nvSpPr>
          <p:cNvPr id="15" name="t90"/>
          <p:cNvSpPr txBox="1"/>
          <p:nvPr/>
        </p:nvSpPr>
        <p:spPr>
          <a:xfrm>
            <a:off x="4983480" y="20391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Evaluation · evidence Table 2, §4.2, App. H</a:t>
            </a:r>
            <a:endParaRPr lang="en-US" sz="1100" dirty="0"/>
          </a:p>
        </p:txBody>
      </p:sp>
      <p:sp>
        <p:nvSpPr>
          <p:cNvPr id="16" name="t91"/>
          <p:cNvSpPr txBox="1"/>
          <p:nvPr/>
        </p:nvSpPr>
        <p:spPr>
          <a:xfrm>
            <a:off x="4892040" y="24688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Only 22–45% of requirements met, so answering “no” scores high (84% on MetaGPT)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No Cohen’s κ or per-class F1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Labels from three of the authors; one domain, 55 tasks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Objective: agent judge vs voting at equal tokens</a:t>
            </a:r>
            <a:endParaRPr lang="en-US" sz="2800" dirty="0"/>
          </a:p>
        </p:txBody>
      </p:sp>
      <p:sp>
        <p:nvSpPr>
          <p:cNvPr id="3" name="r92"/>
          <p:cNvSpPr/>
          <p:nvPr/>
        </p:nvSpPr>
        <p:spPr>
          <a:xfrm>
            <a:off x="457200" y="1097280"/>
            <a:ext cx="8229600" cy="251460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/>
        </p:spPr>
      </p:sp>
      <p:sp>
        <p:nvSpPr>
          <p:cNvPr id="4" name="t93"/>
          <p:cNvSpPr txBox="1"/>
          <p:nvPr/>
        </p:nvSpPr>
        <p:spPr>
          <a:xfrm>
            <a:off x="731520" y="128016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</a:rPr>
              <a:t>To evaluate </a:t>
            </a:r>
            <a:r>
              <a:rPr lang="en-US" sz="1700" dirty="0">
                <a:solidFill>
                  <a:schemeClr val="bg1"/>
                </a:solidFill>
              </a:rPr>
              <a:t>Agent-as-a-Judge (locate + read + ask, black-box) on an open-weight backbone, Qwen2.5-7B-Instruct via Ollama, </a:t>
            </a:r>
            <a:r>
              <a:rPr lang="en-US" sz="1700" b="1" dirty="0">
                <a:solidFill>
                  <a:schemeClr val="accent1"/>
                </a:solidFill>
              </a:rPr>
              <a:t>for </a:t>
            </a:r>
            <a:r>
              <a:rPr lang="en-US" sz="1700" dirty="0">
                <a:solidFill>
                  <a:schemeClr val="bg1"/>
                </a:solidFill>
              </a:rPr>
              <a:t>requirement-level judging of OpenHands outputs </a:t>
            </a:r>
            <a:r>
              <a:rPr lang="en-US" sz="1700" b="1" dirty="0">
                <a:solidFill>
                  <a:schemeClr val="accent1"/>
                </a:solidFill>
              </a:rPr>
              <a:t>on </a:t>
            </a:r>
            <a:r>
              <a:rPr lang="en-US" sz="1700" dirty="0">
                <a:solidFill>
                  <a:schemeClr val="bg1"/>
                </a:solidFill>
              </a:rPr>
              <a:t>DevAI (55 tasks, 365 requirements, released human labels), </a:t>
            </a:r>
            <a:r>
              <a:rPr lang="en-US" sz="1700" b="1" dirty="0">
                <a:solidFill>
                  <a:schemeClr val="accent1"/>
                </a:solidFill>
              </a:rPr>
              <a:t>compared against </a:t>
            </a:r>
            <a:r>
              <a:rPr lang="en-US" sz="1700" dirty="0">
                <a:solidFill>
                  <a:schemeClr val="bg1"/>
                </a:solidFill>
              </a:rPr>
              <a:t>LLM-as-a-Judge with majority voting over k samples </a:t>
            </a:r>
            <a:r>
              <a:rPr lang="en-US" sz="1700" b="1" dirty="0">
                <a:solidFill>
                  <a:schemeClr val="accent1"/>
                </a:solidFill>
              </a:rPr>
              <a:t>at a matched token budget, measured by </a:t>
            </a:r>
            <a:r>
              <a:rPr lang="en-US" sz="1700" dirty="0">
                <a:solidFill>
                  <a:schemeClr val="bg1"/>
                </a:solidFill>
              </a:rPr>
              <a:t>alignment rate and Cohen’s κ </a:t>
            </a:r>
            <a:r>
              <a:rPr lang="en-US" sz="1700" b="1" dirty="0">
                <a:solidFill>
                  <a:schemeClr val="accent1"/>
                </a:solidFill>
              </a:rPr>
              <a:t>and by </a:t>
            </a:r>
            <a:r>
              <a:rPr lang="en-US" sz="1700" dirty="0">
                <a:solidFill>
                  <a:schemeClr val="bg1"/>
                </a:solidFill>
              </a:rPr>
              <a:t>calls, tokens and latency per requirement.</a:t>
            </a:r>
            <a:endParaRPr lang="en-US" sz="1700" dirty="0"/>
          </a:p>
        </p:txBody>
      </p:sp>
      <p:sp>
        <p:nvSpPr>
          <p:cNvPr id="5" name="b94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95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G1</a:t>
            </a:r>
            <a:endParaRPr lang="en-US" sz="1200" dirty="0"/>
          </a:p>
        </p:txBody>
      </p:sp>
      <p:sp>
        <p:nvSpPr>
          <p:cNvPr id="7" name="t96"/>
          <p:cNvSpPr txBox="1"/>
          <p:nvPr/>
        </p:nvSpPr>
        <p:spPr>
          <a:xfrm>
            <a:off x="1005840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matched budget is the main comparison</a:t>
            </a:r>
            <a:endParaRPr lang="en-US" sz="1200" dirty="0"/>
          </a:p>
        </p:txBody>
      </p:sp>
      <p:sp>
        <p:nvSpPr>
          <p:cNvPr id="8" name="b97"/>
          <p:cNvSpPr/>
          <p:nvPr/>
        </p:nvSpPr>
        <p:spPr>
          <a:xfrm>
            <a:off x="3264408" y="3886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98"/>
          <p:cNvSpPr txBox="1"/>
          <p:nvPr/>
        </p:nvSpPr>
        <p:spPr>
          <a:xfrm>
            <a:off x="326440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G3</a:t>
            </a:r>
            <a:endParaRPr lang="en-US" sz="1200" dirty="0"/>
          </a:p>
        </p:txBody>
      </p:sp>
      <p:sp>
        <p:nvSpPr>
          <p:cNvPr id="10" name="t99"/>
          <p:cNvSpPr txBox="1"/>
          <p:nvPr/>
        </p:nvSpPr>
        <p:spPr>
          <a:xfrm>
            <a:off x="3813048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open-weight backbone, outside the GPT-4o family</a:t>
            </a:r>
            <a:endParaRPr lang="en-US" sz="1200" dirty="0"/>
          </a:p>
        </p:txBody>
      </p:sp>
      <p:sp>
        <p:nvSpPr>
          <p:cNvPr id="11" name="b100"/>
          <p:cNvSpPr/>
          <p:nvPr/>
        </p:nvSpPr>
        <p:spPr>
          <a:xfrm>
            <a:off x="6071616" y="3886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101"/>
          <p:cNvSpPr txBox="1"/>
          <p:nvPr/>
        </p:nvSpPr>
        <p:spPr>
          <a:xfrm>
            <a:off x="607161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G4</a:t>
            </a:r>
            <a:endParaRPr lang="en-US" sz="1200" dirty="0"/>
          </a:p>
        </p:txBody>
      </p:sp>
      <p:sp>
        <p:nvSpPr>
          <p:cNvPr id="13" name="t102"/>
          <p:cNvSpPr txBox="1"/>
          <p:nvPr/>
        </p:nvSpPr>
        <p:spPr>
          <a:xfrm>
            <a:off x="6620256" y="3886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κ alongside raw alignment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Feasible on a laptop: ≈10k local calls, $0</a:t>
            </a:r>
            <a:endParaRPr lang="en-US" sz="2800" dirty="0"/>
          </a:p>
        </p:txBody>
      </p:sp>
      <p:sp>
        <p:nvSpPr>
          <p:cNvPr id="3" name="r103"/>
          <p:cNvSpPr/>
          <p:nvPr/>
        </p:nvSpPr>
        <p:spPr>
          <a:xfrm>
            <a:off x="457200" y="109728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" name="t104"/>
          <p:cNvSpPr txBox="1"/>
          <p:nvPr/>
        </p:nvSpPr>
        <p:spPr>
          <a:xfrm>
            <a:off x="64008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≈3.3k</a:t>
            </a:r>
            <a:endParaRPr lang="en-US" sz="2800" dirty="0"/>
          </a:p>
        </p:txBody>
      </p:sp>
      <p:sp>
        <p:nvSpPr>
          <p:cNvPr id="5" name="t105"/>
          <p:cNvSpPr txBox="1"/>
          <p:nvPr/>
        </p:nvSpPr>
        <p:spPr>
          <a:xfrm>
            <a:off x="6400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agent-judge calls</a:t>
            </a:r>
            <a:endParaRPr lang="en-US" sz="1300" dirty="0"/>
          </a:p>
        </p:txBody>
      </p:sp>
      <p:sp>
        <p:nvSpPr>
          <p:cNvPr id="6" name="t106"/>
          <p:cNvSpPr txBox="1"/>
          <p:nvPr/>
        </p:nvSpPr>
        <p:spPr>
          <a:xfrm>
            <a:off x="64008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3 calls × 365 req. × 3 runs</a:t>
            </a:r>
            <a:endParaRPr lang="en-US" sz="1100" dirty="0"/>
          </a:p>
        </p:txBody>
      </p:sp>
      <p:sp>
        <p:nvSpPr>
          <p:cNvPr id="7" name="r107"/>
          <p:cNvSpPr/>
          <p:nvPr/>
        </p:nvSpPr>
        <p:spPr>
          <a:xfrm>
            <a:off x="3264408" y="109728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108"/>
          <p:cNvSpPr txBox="1"/>
          <p:nvPr/>
        </p:nvSpPr>
        <p:spPr>
          <a:xfrm>
            <a:off x="3447288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≈3.3–5.5k</a:t>
            </a:r>
            <a:endParaRPr lang="en-US" sz="2800" dirty="0"/>
          </a:p>
        </p:txBody>
      </p:sp>
      <p:sp>
        <p:nvSpPr>
          <p:cNvPr id="9" name="t109"/>
          <p:cNvSpPr txBox="1"/>
          <p:nvPr/>
        </p:nvSpPr>
        <p:spPr>
          <a:xfrm>
            <a:off x="3447288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voting baseline calls</a:t>
            </a:r>
            <a:endParaRPr lang="en-US" sz="1300" dirty="0"/>
          </a:p>
        </p:txBody>
      </p:sp>
      <p:sp>
        <p:nvSpPr>
          <p:cNvPr id="10" name="t110"/>
          <p:cNvSpPr txBox="1"/>
          <p:nvPr/>
        </p:nvSpPr>
        <p:spPr>
          <a:xfrm>
            <a:off x="3447288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k ≈ 3–5, tokens matched</a:t>
            </a:r>
            <a:endParaRPr lang="en-US" sz="1100" dirty="0"/>
          </a:p>
        </p:txBody>
      </p:sp>
      <p:sp>
        <p:nvSpPr>
          <p:cNvPr id="11" name="r111"/>
          <p:cNvSpPr/>
          <p:nvPr/>
        </p:nvSpPr>
        <p:spPr>
          <a:xfrm>
            <a:off x="6071616" y="109728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2" name="t112"/>
          <p:cNvSpPr txBox="1"/>
          <p:nvPr/>
        </p:nvSpPr>
        <p:spPr>
          <a:xfrm>
            <a:off x="6254496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≈1.1k</a:t>
            </a:r>
            <a:endParaRPr lang="en-US" sz="2800" dirty="0"/>
          </a:p>
        </p:txBody>
      </p:sp>
      <p:sp>
        <p:nvSpPr>
          <p:cNvPr id="13" name="t113"/>
          <p:cNvSpPr txBox="1"/>
          <p:nvPr/>
        </p:nvSpPr>
        <p:spPr>
          <a:xfrm>
            <a:off x="6254496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ablation calls</a:t>
            </a:r>
            <a:endParaRPr lang="en-US" sz="1300" dirty="0"/>
          </a:p>
        </p:txBody>
      </p:sp>
      <p:sp>
        <p:nvSpPr>
          <p:cNvPr id="14" name="t114"/>
          <p:cNvSpPr txBox="1"/>
          <p:nvPr/>
        </p:nvSpPr>
        <p:spPr>
          <a:xfrm>
            <a:off x="6254496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no locate/read, 1 call × 365 × 3</a:t>
            </a:r>
            <a:endParaRPr lang="en-US" sz="1100" dirty="0"/>
          </a:p>
        </p:txBody>
      </p:sp>
      <p:sp>
        <p:nvSpPr>
          <p:cNvPr id="15" name="t115"/>
          <p:cNvSpPr txBox="1"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Phase 2 plan</a:t>
            </a:r>
            <a:endParaRPr lang="en-US" sz="1400" dirty="0"/>
          </a:p>
        </p:txBody>
      </p:sp>
      <p:sp>
        <p:nvSpPr>
          <p:cNvPr id="16" name="b116"/>
          <p:cNvSpPr/>
          <p:nvPr/>
        </p:nvSpPr>
        <p:spPr>
          <a:xfrm>
            <a:off x="978408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117"/>
          <p:cNvSpPr txBox="1"/>
          <p:nvPr/>
        </p:nvSpPr>
        <p:spPr>
          <a:xfrm>
            <a:off x="978408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W5</a:t>
            </a:r>
            <a:endParaRPr lang="en-US" sz="1300" dirty="0"/>
          </a:p>
        </p:txBody>
      </p:sp>
      <p:sp>
        <p:nvSpPr>
          <p:cNvPr id="18" name="t118"/>
          <p:cNvSpPr txBox="1"/>
          <p:nvPr/>
        </p:nvSpPr>
        <p:spPr>
          <a:xfrm>
            <a:off x="457200" y="384048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Ollama + DevAI repo, label loader</a:t>
            </a:r>
            <a:endParaRPr lang="en-US" sz="1100" dirty="0"/>
          </a:p>
        </p:txBody>
      </p:sp>
      <p:sp>
        <p:nvSpPr>
          <p:cNvPr id="19" name="b119"/>
          <p:cNvSpPr/>
          <p:nvPr/>
        </p:nvSpPr>
        <p:spPr>
          <a:xfrm>
            <a:off x="2660904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120"/>
          <p:cNvSpPr txBox="1"/>
          <p:nvPr/>
        </p:nvSpPr>
        <p:spPr>
          <a:xfrm>
            <a:off x="2660904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W6</a:t>
            </a:r>
            <a:endParaRPr lang="en-US" sz="1300" dirty="0"/>
          </a:p>
        </p:txBody>
      </p:sp>
      <p:sp>
        <p:nvSpPr>
          <p:cNvPr id="21" name="t121"/>
          <p:cNvSpPr txBox="1"/>
          <p:nvPr/>
        </p:nvSpPr>
        <p:spPr>
          <a:xfrm>
            <a:off x="2139696" y="384048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Voting baseline, 3 runs</a:t>
            </a:r>
            <a:endParaRPr lang="en-US" sz="1100" dirty="0"/>
          </a:p>
        </p:txBody>
      </p:sp>
      <p:sp>
        <p:nvSpPr>
          <p:cNvPr id="22" name="b122"/>
          <p:cNvSpPr/>
          <p:nvPr/>
        </p:nvSpPr>
        <p:spPr>
          <a:xfrm>
            <a:off x="4343400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123"/>
          <p:cNvSpPr txBox="1"/>
          <p:nvPr/>
        </p:nvSpPr>
        <p:spPr>
          <a:xfrm>
            <a:off x="43434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W7</a:t>
            </a:r>
            <a:endParaRPr lang="en-US" sz="1300" dirty="0"/>
          </a:p>
        </p:txBody>
      </p:sp>
      <p:sp>
        <p:nvSpPr>
          <p:cNvPr id="24" name="t124"/>
          <p:cNvSpPr txBox="1"/>
          <p:nvPr/>
        </p:nvSpPr>
        <p:spPr>
          <a:xfrm>
            <a:off x="3822192" y="384048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Agent judge, traces saved</a:t>
            </a:r>
            <a:endParaRPr lang="en-US" sz="1100" dirty="0"/>
          </a:p>
        </p:txBody>
      </p:sp>
      <p:sp>
        <p:nvSpPr>
          <p:cNvPr id="25" name="b125"/>
          <p:cNvSpPr/>
          <p:nvPr/>
        </p:nvSpPr>
        <p:spPr>
          <a:xfrm>
            <a:off x="6025896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126"/>
          <p:cNvSpPr txBox="1"/>
          <p:nvPr/>
        </p:nvSpPr>
        <p:spPr>
          <a:xfrm>
            <a:off x="6025896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W8</a:t>
            </a:r>
            <a:endParaRPr lang="en-US" sz="1300" dirty="0"/>
          </a:p>
        </p:txBody>
      </p:sp>
      <p:sp>
        <p:nvSpPr>
          <p:cNvPr id="27" name="t127"/>
          <p:cNvSpPr txBox="1"/>
          <p:nvPr/>
        </p:nvSpPr>
        <p:spPr>
          <a:xfrm>
            <a:off x="5504688" y="384048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Ablation, cost, κ</a:t>
            </a:r>
            <a:endParaRPr lang="en-US" sz="1100" dirty="0"/>
          </a:p>
        </p:txBody>
      </p:sp>
      <p:sp>
        <p:nvSpPr>
          <p:cNvPr id="28" name="b128"/>
          <p:cNvSpPr/>
          <p:nvPr/>
        </p:nvSpPr>
        <p:spPr>
          <a:xfrm>
            <a:off x="7708392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129"/>
          <p:cNvSpPr txBox="1"/>
          <p:nvPr/>
        </p:nvSpPr>
        <p:spPr>
          <a:xfrm>
            <a:off x="7708392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W9</a:t>
            </a:r>
            <a:endParaRPr lang="en-US" sz="1300" dirty="0"/>
          </a:p>
        </p:txBody>
      </p:sp>
      <p:sp>
        <p:nvSpPr>
          <p:cNvPr id="30" name="t130"/>
          <p:cNvSpPr txBox="1"/>
          <p:nvPr/>
        </p:nvSpPr>
        <p:spPr>
          <a:xfrm>
            <a:off x="7187184" y="384048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Report + demo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dge Ink">
  <a:themeElements>
    <a:clrScheme name="Judge Ink">
      <a:dk1>
        <a:srgbClr val="1B2A41"/>
      </a:dk1>
      <a:lt1>
        <a:srgbClr val="FFFFFF"/>
      </a:lt1>
      <a:dk2>
        <a:srgbClr val="33415C"/>
      </a:dk2>
      <a:lt2>
        <a:srgbClr val="EEF1F6"/>
      </a:lt2>
      <a:accent1>
        <a:srgbClr val="E09F3E"/>
      </a:accent1>
      <a:accent2>
        <a:srgbClr val="3A7D7C"/>
      </a:accent2>
      <a:accent3>
        <a:srgbClr val="9E2A2B"/>
      </a:accent3>
      <a:accent4>
        <a:srgbClr val="6C7A96"/>
      </a:accent4>
      <a:accent5>
        <a:srgbClr val="C9D3E3"/>
      </a:accent5>
      <a:accent6>
        <a:srgbClr val="F6E3C3"/>
      </a:accent6>
      <a:hlink>
        <a:srgbClr val="3A7D7C"/>
      </a:hlink>
      <a:folHlink>
        <a:srgbClr val="6C7A96"/>
      </a:folHlink>
    </a:clrScheme>
    <a:fontScheme name="Judge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1193</Words>
  <Application>Microsoft Office PowerPoint</Application>
  <PresentationFormat>On-screen Show (16:9)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Judge Ink</vt:lpstr>
      <vt:lpstr>Agent-as-a-Judge: does agentic judging still win at a matched budget?</vt:lpstr>
      <vt:lpstr>Three papers, one narrow problem: judging agents</vt:lpstr>
      <vt:lpstr>Problem: an LLM judge cannot open the files</vt:lpstr>
      <vt:lpstr>Reported: agent judge ≈ a single human</vt:lpstr>
      <vt:lpstr>Gaps 1–2: cost and reliability</vt:lpstr>
      <vt:lpstr>Gaps 3–4: generality and evaluation</vt:lpstr>
      <vt:lpstr>Objective: agent judge vs voting at equal tokens</vt:lpstr>
      <vt:lpstr>Feasible on a laptop: ≈10k local calls, $0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AI465 RP1 - Agent-as-a-Judge</dc:title>
  <dc:subject>PptxGenJS Presentation</dc:subject>
  <dc:creator>AI465 student</dc:creator>
  <cp:lastModifiedBy>Jaival Chauhan</cp:lastModifiedBy>
  <cp:revision>3</cp:revision>
  <dcterms:created xsi:type="dcterms:W3CDTF">2026-10-24T09:52:51Z</dcterms:created>
  <dcterms:modified xsi:type="dcterms:W3CDTF">2026-10-29T07:01:57Z</dcterms:modified>
</cp:coreProperties>
</file>