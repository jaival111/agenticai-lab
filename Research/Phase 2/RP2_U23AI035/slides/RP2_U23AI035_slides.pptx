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0523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s. Restate the question from Phase 1: the paper's agent judge beat an LLM judge that was never given the same budget. I rebuilt both on a local 7B model and compared them at equal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s. Say this up front: the objective is unchanged, the data changed for a demonstrated technical reason, approved by the instructor on [date]. The developer model is a different family from the judge, so the judge never grades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s. One component differs between baseline and method: evidence gathering. The judging prompt is the authors' own. Explain why storing all votes lets me match budgets after the fact, and why I count tokens myself.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s. These are the Phase 2 protocol requirements: three runs with variance, pinned configuration, prompts as files, cost reported, full traces. Everything regenerates from run_all.ps1.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75 s. Read the figure: x is tokens per requirement, y is agreement. Each point is a k. The question is which curve is higher at the same x. State the result plainly, including if the agent does NOT win.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75 s. Left: the fair comparison the paper did not run. Right: the ablation isolates the read step. Say whether differences exceed the std across seeds.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s. Be honest that 7 requirements cannot confirm the paper. Then explain the base-rate trap from Phase 1 Gap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s. Pick one entry of results/main/failure_cases.md, open its trace, and fill the five boxes. Show the trace file during the viva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s. State limitations without being asked; it is graded.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Run the demo live; if Ollama is slow, play the recording.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A96"/>
                </a:solidFill>
              </a:rPr>
              <a:t>AI465 Agentic AI · Research Project Phase 2 · U23AI035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A9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A9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"/>
          <p:cNvSpPr txBox="1"/>
          <p:nvPr/>
        </p:nvSpPr>
        <p:spPr>
          <a:xfrm>
            <a:off x="548640" y="685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09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AI465 RESEARCH PROJECT · PHASE 2</a:t>
            </a:r>
            <a:endParaRPr lang="en-US" sz="1400" dirty="0"/>
          </a:p>
        </p:txBody>
      </p:sp>
      <p:sp>
        <p:nvSpPr>
          <p:cNvPr id="3" name="t2"/>
          <p:cNvSpPr txBox="1"/>
          <p:nvPr/>
        </p:nvSpPr>
        <p:spPr>
          <a:xfrm>
            <a:off x="548640" y="12344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Agent-as-a-Judge still win at a matched budget on a 7B open model?</a:t>
            </a:r>
            <a:endParaRPr lang="en-US" sz="3400" dirty="0"/>
          </a:p>
        </p:txBody>
      </p:sp>
      <p:sp>
        <p:nvSpPr>
          <p:cNvPr id="4" name="t3"/>
          <p:cNvSpPr txBox="1"/>
          <p:nvPr/>
        </p:nvSpPr>
        <p:spPr>
          <a:xfrm>
            <a:off x="548640" y="2880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and evaluation of the Phase 1 objective · DevAI · Qwen2.5-7B via Ollama</a:t>
            </a:r>
            <a:endParaRPr lang="en-US" sz="1800" dirty="0"/>
          </a:p>
        </p:txBody>
      </p:sp>
      <p:sp>
        <p:nvSpPr>
          <p:cNvPr id="5" name="t4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Jaival Chauhan     Roll No.: U23AI035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5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Objective, and one declared change of data</a:t>
            </a:r>
            <a:endParaRPr lang="en-US" sz="2800" dirty="0"/>
          </a:p>
        </p:txBody>
      </p:sp>
      <p:sp>
        <p:nvSpPr>
          <p:cNvPr id="3" name="r6"/>
          <p:cNvSpPr/>
          <p:nvPr/>
        </p:nvSpPr>
        <p:spPr>
          <a:xfrm>
            <a:off x="457200" y="109728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1B2A41"/>
          </a:solidFill>
          <a:ln/>
        </p:spPr>
      </p:sp>
      <p:sp>
        <p:nvSpPr>
          <p:cNvPr id="4" name="t7"/>
          <p:cNvSpPr txBox="1"/>
          <p:nvPr/>
        </p:nvSpPr>
        <p:spPr>
          <a:xfrm>
            <a:off x="731520" y="11887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9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Agent-as-a-Judge (locate + read + ask) vs LLM-as-a-Judge with k-vote majority at a matched token budget, same open-weight model, on DevAI; alignment and Cohen's κ against human labels, plus calls, tokens and latency per requirement.</a:t>
            </a:r>
            <a:endParaRPr lang="en-US" sz="1500" dirty="0"/>
          </a:p>
        </p:txBody>
      </p:sp>
      <p:sp>
        <p:nvSpPr>
          <p:cNvPr id="5" name="r8"/>
          <p:cNvSpPr/>
          <p:nvPr/>
        </p:nvSpPr>
        <p:spPr>
          <a:xfrm>
            <a:off x="457200" y="2697480"/>
            <a:ext cx="8229600" cy="1874520"/>
          </a:xfrm>
          <a:prstGeom prst="roundRect">
            <a:avLst>
              <a:gd name="adj" fmla="val 3902"/>
            </a:avLst>
          </a:prstGeom>
          <a:solidFill>
            <a:srgbClr val="F6E3C3"/>
          </a:solidFill>
          <a:ln/>
        </p:spPr>
      </p:sp>
      <p:sp>
        <p:nvSpPr>
          <p:cNvPr id="6" name="b9"/>
          <p:cNvSpPr/>
          <p:nvPr/>
        </p:nvSpPr>
        <p:spPr>
          <a:xfrm>
            <a:off x="685800" y="2880360"/>
            <a:ext cx="457200" cy="457200"/>
          </a:xfrm>
          <a:prstGeom prst="ellipse">
            <a:avLst/>
          </a:prstGeom>
          <a:solidFill>
            <a:srgbClr val="9E2A2B"/>
          </a:solidFill>
          <a:ln/>
        </p:spPr>
      </p:sp>
      <p:sp>
        <p:nvSpPr>
          <p:cNvPr id="7" name="t10"/>
          <p:cNvSpPr txBox="1"/>
          <p:nvPr/>
        </p:nvSpPr>
        <p:spPr>
          <a:xfrm>
            <a:off x="68580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8" name="t11"/>
          <p:cNvSpPr txBox="1"/>
          <p:nvPr/>
        </p:nvSpPr>
        <p:spPr>
          <a:xfrm>
            <a:off x="1325880" y="285292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authors released the developer-agent workspace for 1 of 55 tasks (GitHub issue #36, unanswered).</a:t>
            </a:r>
            <a:endParaRPr lang="en-US" sz="1400" dirty="0"/>
          </a:p>
        </p:txBody>
      </p:sp>
      <p:sp>
        <p:nvSpPr>
          <p:cNvPr id="9" name="t12"/>
          <p:cNvSpPr txBox="1"/>
          <p:nvPr/>
        </p:nvSpPr>
        <p:spPr>
          <a:xfrm>
            <a:off x="1325880" y="338328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set: 20 tasks, workspaces generated by a local Llama-3.1-8B developer, labelled blind by me ([n] requirements)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Published-label check: task 39, original OpenHands workspace, authors' labels (7 requirements)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A9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3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model and prompt; only evidence differs</a:t>
            </a:r>
            <a:endParaRPr lang="en-US" sz="2800" dirty="0"/>
          </a:p>
        </p:txBody>
      </p:sp>
      <p:sp>
        <p:nvSpPr>
          <p:cNvPr id="3" name="r14"/>
          <p:cNvSpPr/>
          <p:nvPr/>
        </p:nvSpPr>
        <p:spPr>
          <a:xfrm>
            <a:off x="457200" y="11430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EF1F6"/>
          </a:solidFill>
          <a:ln/>
        </p:spPr>
      </p:sp>
      <p:sp>
        <p:nvSpPr>
          <p:cNvPr id="4" name="b15"/>
          <p:cNvSpPr/>
          <p:nvPr/>
        </p:nvSpPr>
        <p:spPr>
          <a:xfrm>
            <a:off x="640080" y="1298448"/>
            <a:ext cx="457200" cy="457200"/>
          </a:xfrm>
          <a:prstGeom prst="ellipse">
            <a:avLst/>
          </a:prstGeom>
          <a:solidFill>
            <a:srgbClr val="6C7A96"/>
          </a:solidFill>
          <a:ln/>
        </p:spPr>
      </p:sp>
      <p:sp>
        <p:nvSpPr>
          <p:cNvPr id="5" name="t16"/>
          <p:cNvSpPr txBox="1"/>
          <p:nvPr/>
        </p:nvSpPr>
        <p:spPr>
          <a:xfrm>
            <a:off x="640080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17"/>
          <p:cNvSpPr txBox="1"/>
          <p:nvPr/>
        </p:nvSpPr>
        <p:spPr>
          <a:xfrm>
            <a:off x="1234440" y="12344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LLM-as-a-Judge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6C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500" dirty="0"/>
          </a:p>
        </p:txBody>
      </p:sp>
      <p:sp>
        <p:nvSpPr>
          <p:cNvPr id="7" name="t18"/>
          <p:cNvSpPr txBox="1"/>
          <p:nvPr/>
        </p:nvSpPr>
        <p:spPr>
          <a:xfrm>
            <a:off x="3429000" y="12344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workspace dump (≤ 12k tokens)</a:t>
            </a:r>
            <a:endParaRPr lang="en-US" sz="1400" dirty="0"/>
          </a:p>
        </p:txBody>
      </p:sp>
      <p:sp>
        <p:nvSpPr>
          <p:cNvPr id="8" name="t19"/>
          <p:cNvSpPr txBox="1"/>
          <p:nvPr/>
        </p:nvSpPr>
        <p:spPr>
          <a:xfrm>
            <a:off x="7315200" y="12344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votes</a:t>
            </a:r>
            <a:endParaRPr lang="en-US" sz="1300" dirty="0"/>
          </a:p>
        </p:txBody>
      </p:sp>
      <p:sp>
        <p:nvSpPr>
          <p:cNvPr id="9" name="r20"/>
          <p:cNvSpPr/>
          <p:nvPr/>
        </p:nvSpPr>
        <p:spPr>
          <a:xfrm>
            <a:off x="457200" y="21031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EF1F6"/>
          </a:solidFill>
          <a:ln/>
        </p:spPr>
      </p:sp>
      <p:sp>
        <p:nvSpPr>
          <p:cNvPr id="10" name="b21"/>
          <p:cNvSpPr/>
          <p:nvPr/>
        </p:nvSpPr>
        <p:spPr>
          <a:xfrm>
            <a:off x="640080" y="2258568"/>
            <a:ext cx="457200" cy="45720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1" name="t22"/>
          <p:cNvSpPr txBox="1"/>
          <p:nvPr/>
        </p:nvSpPr>
        <p:spPr>
          <a:xfrm>
            <a:off x="64008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23"/>
          <p:cNvSpPr txBox="1"/>
          <p:nvPr/>
        </p:nvSpPr>
        <p:spPr>
          <a:xfrm>
            <a:off x="1234440" y="21945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Agent-as-a-Judge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6C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500" dirty="0"/>
          </a:p>
        </p:txBody>
      </p:sp>
      <p:sp>
        <p:nvSpPr>
          <p:cNvPr id="13" name="t24"/>
          <p:cNvSpPr txBox="1"/>
          <p:nvPr/>
        </p:nvSpPr>
        <p:spPr>
          <a:xfrm>
            <a:off x="3429000" y="21945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→ locate (LLM) → read located files</a:t>
            </a:r>
            <a:endParaRPr lang="en-US" sz="1400" dirty="0"/>
          </a:p>
        </p:txBody>
      </p:sp>
      <p:sp>
        <p:nvSpPr>
          <p:cNvPr id="14" name="t25"/>
          <p:cNvSpPr txBox="1"/>
          <p:nvPr/>
        </p:nvSpPr>
        <p:spPr>
          <a:xfrm>
            <a:off x="7315200" y="219456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+ k calls</a:t>
            </a:r>
            <a:endParaRPr lang="en-US" sz="1300" dirty="0"/>
          </a:p>
        </p:txBody>
      </p:sp>
      <p:sp>
        <p:nvSpPr>
          <p:cNvPr id="15" name="r26"/>
          <p:cNvSpPr/>
          <p:nvPr/>
        </p:nvSpPr>
        <p:spPr>
          <a:xfrm>
            <a:off x="457200" y="30632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EF1F6"/>
          </a:solidFill>
          <a:ln/>
        </p:spPr>
      </p:sp>
      <p:sp>
        <p:nvSpPr>
          <p:cNvPr id="16" name="b27"/>
          <p:cNvSpPr/>
          <p:nvPr/>
        </p:nvSpPr>
        <p:spPr>
          <a:xfrm>
            <a:off x="640080" y="3218688"/>
            <a:ext cx="457200" cy="457200"/>
          </a:xfrm>
          <a:prstGeom prst="ellipse">
            <a:avLst/>
          </a:prstGeom>
          <a:solidFill>
            <a:srgbClr val="3A7D7C"/>
          </a:solidFill>
          <a:ln/>
        </p:spPr>
      </p:sp>
      <p:sp>
        <p:nvSpPr>
          <p:cNvPr id="17" name="t28"/>
          <p:cNvSpPr txBox="1"/>
          <p:nvPr/>
        </p:nvSpPr>
        <p:spPr>
          <a:xfrm>
            <a:off x="640080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29"/>
          <p:cNvSpPr txBox="1"/>
          <p:nvPr/>
        </p:nvSpPr>
        <p:spPr>
          <a:xfrm>
            <a:off x="1234440" y="31546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agent_noread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6C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</a:t>
            </a:r>
            <a:endParaRPr lang="en-US" sz="1500" dirty="0"/>
          </a:p>
        </p:txBody>
      </p:sp>
      <p:sp>
        <p:nvSpPr>
          <p:cNvPr id="19" name="t30"/>
          <p:cNvSpPr txBox="1"/>
          <p:nvPr/>
        </p:nvSpPr>
        <p:spPr>
          <a:xfrm>
            <a:off x="3429000" y="31546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→ locate, file contents withheld</a:t>
            </a:r>
            <a:endParaRPr lang="en-US" sz="1400" dirty="0"/>
          </a:p>
        </p:txBody>
      </p:sp>
      <p:sp>
        <p:nvSpPr>
          <p:cNvPr id="20" name="t31"/>
          <p:cNvSpPr txBox="1"/>
          <p:nvPr/>
        </p:nvSpPr>
        <p:spPr>
          <a:xfrm>
            <a:off x="7315200" y="315468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+ k calls</a:t>
            </a:r>
            <a:endParaRPr lang="en-US" sz="1300" dirty="0"/>
          </a:p>
        </p:txBody>
      </p:sp>
      <p:sp>
        <p:nvSpPr>
          <p:cNvPr id="21" name="t32"/>
          <p:cNvSpPr txBox="1"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9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votes stored per requirement → majority for any k ≤ 5 computed offline → exact budget matching. Prompt tokens counted with the Qwen tokenizer (Ollama's cache hides repeats).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A9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33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Protocol: pinned, repeated, traced</a:t>
            </a:r>
            <a:endParaRPr lang="en-US" sz="2800" dirty="0"/>
          </a:p>
        </p:txBody>
      </p:sp>
      <p:sp>
        <p:nvSpPr>
          <p:cNvPr id="3" name="r34"/>
          <p:cNvSpPr/>
          <p:nvPr/>
        </p:nvSpPr>
        <p:spPr>
          <a:xfrm>
            <a:off x="457200" y="1143000"/>
            <a:ext cx="2615184" cy="1554480"/>
          </a:xfrm>
          <a:prstGeom prst="roundRect">
            <a:avLst>
              <a:gd name="adj" fmla="val 4706"/>
            </a:avLst>
          </a:prstGeom>
          <a:solidFill>
            <a:srgbClr val="EEF1F6"/>
          </a:solidFill>
          <a:ln/>
        </p:spPr>
      </p:sp>
      <p:sp>
        <p:nvSpPr>
          <p:cNvPr id="4" name="t35"/>
          <p:cNvSpPr txBox="1"/>
          <p:nvPr/>
        </p:nvSpPr>
        <p:spPr>
          <a:xfrm>
            <a:off x="640080" y="1307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A7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5" name="t36"/>
          <p:cNvSpPr txBox="1"/>
          <p:nvPr/>
        </p:nvSpPr>
        <p:spPr>
          <a:xfrm>
            <a:off x="640080" y="1645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qwen2.5:7b-instruct</a:t>
            </a:r>
            <a:endParaRPr lang="en-US" sz="1500" dirty="0"/>
          </a:p>
        </p:txBody>
      </p:sp>
      <p:sp>
        <p:nvSpPr>
          <p:cNvPr id="6" name="t37"/>
          <p:cNvSpPr txBox="1"/>
          <p:nvPr/>
        </p:nvSpPr>
        <p:spPr>
          <a:xfrm>
            <a:off x="64008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 in manifest.json</a:t>
            </a:r>
            <a:endParaRPr lang="en-US" sz="1100" dirty="0"/>
          </a:p>
        </p:txBody>
      </p:sp>
      <p:sp>
        <p:nvSpPr>
          <p:cNvPr id="7" name="r38"/>
          <p:cNvSpPr/>
          <p:nvPr/>
        </p:nvSpPr>
        <p:spPr>
          <a:xfrm>
            <a:off x="3264408" y="1143000"/>
            <a:ext cx="2615184" cy="1554480"/>
          </a:xfrm>
          <a:prstGeom prst="roundRect">
            <a:avLst>
              <a:gd name="adj" fmla="val 4706"/>
            </a:avLst>
          </a:prstGeom>
          <a:solidFill>
            <a:srgbClr val="EEF1F6"/>
          </a:solidFill>
          <a:ln/>
        </p:spPr>
      </p:sp>
      <p:sp>
        <p:nvSpPr>
          <p:cNvPr id="8" name="t39"/>
          <p:cNvSpPr txBox="1"/>
          <p:nvPr/>
        </p:nvSpPr>
        <p:spPr>
          <a:xfrm>
            <a:off x="3447288" y="1307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A7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</a:t>
            </a:r>
            <a:endParaRPr lang="en-US" sz="1100" dirty="0"/>
          </a:p>
        </p:txBody>
      </p:sp>
      <p:sp>
        <p:nvSpPr>
          <p:cNvPr id="9" name="t40"/>
          <p:cNvSpPr txBox="1"/>
          <p:nvPr/>
        </p:nvSpPr>
        <p:spPr>
          <a:xfrm>
            <a:off x="3447288" y="1645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0.7 · top-p 0.9</a:t>
            </a:r>
            <a:endParaRPr lang="en-US" sz="1500" dirty="0"/>
          </a:p>
        </p:txBody>
      </p:sp>
      <p:sp>
        <p:nvSpPr>
          <p:cNvPr id="10" name="t41"/>
          <p:cNvSpPr txBox="1"/>
          <p:nvPr/>
        </p:nvSpPr>
        <p:spPr>
          <a:xfrm>
            <a:off x="3447288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 16k · ≤ 512 new tokens</a:t>
            </a:r>
            <a:endParaRPr lang="en-US" sz="1100" dirty="0"/>
          </a:p>
        </p:txBody>
      </p:sp>
      <p:sp>
        <p:nvSpPr>
          <p:cNvPr id="11" name="r42"/>
          <p:cNvSpPr/>
          <p:nvPr/>
        </p:nvSpPr>
        <p:spPr>
          <a:xfrm>
            <a:off x="6071616" y="1143000"/>
            <a:ext cx="2615184" cy="1554480"/>
          </a:xfrm>
          <a:prstGeom prst="roundRect">
            <a:avLst>
              <a:gd name="adj" fmla="val 4706"/>
            </a:avLst>
          </a:prstGeom>
          <a:solidFill>
            <a:srgbClr val="EEF1F6"/>
          </a:solidFill>
          <a:ln/>
        </p:spPr>
      </p:sp>
      <p:sp>
        <p:nvSpPr>
          <p:cNvPr id="12" name="t43"/>
          <p:cNvSpPr txBox="1"/>
          <p:nvPr/>
        </p:nvSpPr>
        <p:spPr>
          <a:xfrm>
            <a:off x="6254496" y="1307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A7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</a:t>
            </a:r>
            <a:endParaRPr lang="en-US" sz="1100" dirty="0"/>
          </a:p>
        </p:txBody>
      </p:sp>
      <p:sp>
        <p:nvSpPr>
          <p:cNvPr id="13" name="t44"/>
          <p:cNvSpPr txBox="1"/>
          <p:nvPr/>
        </p:nvSpPr>
        <p:spPr>
          <a:xfrm>
            <a:off x="6254496" y="1645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seeds (11, 22, 33)</a:t>
            </a:r>
            <a:endParaRPr lang="en-US" sz="1500" dirty="0"/>
          </a:p>
        </p:txBody>
      </p:sp>
      <p:sp>
        <p:nvSpPr>
          <p:cNvPr id="14" name="t45"/>
          <p:cNvSpPr txBox="1"/>
          <p:nvPr/>
        </p:nvSpPr>
        <p:spPr>
          <a:xfrm>
            <a:off x="6254496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± std everywhere</a:t>
            </a:r>
            <a:endParaRPr lang="en-US" sz="1100" dirty="0"/>
          </a:p>
        </p:txBody>
      </p:sp>
      <p:sp>
        <p:nvSpPr>
          <p:cNvPr id="15" name="r46"/>
          <p:cNvSpPr/>
          <p:nvPr/>
        </p:nvSpPr>
        <p:spPr>
          <a:xfrm>
            <a:off x="457200" y="2880360"/>
            <a:ext cx="2615184" cy="1554480"/>
          </a:xfrm>
          <a:prstGeom prst="roundRect">
            <a:avLst>
              <a:gd name="adj" fmla="val 4706"/>
            </a:avLst>
          </a:prstGeom>
          <a:solidFill>
            <a:srgbClr val="EEF1F6"/>
          </a:solidFill>
          <a:ln/>
        </p:spPr>
      </p:sp>
      <p:sp>
        <p:nvSpPr>
          <p:cNvPr id="16" name="t47"/>
          <p:cNvSpPr txBox="1"/>
          <p:nvPr/>
        </p:nvSpPr>
        <p:spPr>
          <a:xfrm>
            <a:off x="640080" y="3044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A7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1100" dirty="0"/>
          </a:p>
        </p:txBody>
      </p:sp>
      <p:sp>
        <p:nvSpPr>
          <p:cNvPr id="17" name="t48"/>
          <p:cNvSpPr txBox="1"/>
          <p:nvPr/>
        </p:nvSpPr>
        <p:spPr>
          <a:xfrm>
            <a:off x="640080" y="3383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blind, before any judge run</a:t>
            </a:r>
            <a:endParaRPr lang="en-US" sz="1500" dirty="0"/>
          </a:p>
        </p:txBody>
      </p:sp>
      <p:sp>
        <p:nvSpPr>
          <p:cNvPr id="18" name="t49"/>
          <p:cNvSpPr txBox="1"/>
          <p:nvPr/>
        </p:nvSpPr>
        <p:spPr>
          <a:xfrm>
            <a:off x="64008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DevAI rules (App. H, 38bb)</a:t>
            </a:r>
            <a:endParaRPr lang="en-US" sz="1100" dirty="0"/>
          </a:p>
        </p:txBody>
      </p:sp>
      <p:sp>
        <p:nvSpPr>
          <p:cNvPr id="19" name="r50"/>
          <p:cNvSpPr/>
          <p:nvPr/>
        </p:nvSpPr>
        <p:spPr>
          <a:xfrm>
            <a:off x="3264408" y="2880360"/>
            <a:ext cx="2615184" cy="1554480"/>
          </a:xfrm>
          <a:prstGeom prst="roundRect">
            <a:avLst>
              <a:gd name="adj" fmla="val 4706"/>
            </a:avLst>
          </a:prstGeom>
          <a:solidFill>
            <a:srgbClr val="EEF1F6"/>
          </a:solidFill>
          <a:ln/>
        </p:spPr>
      </p:sp>
      <p:sp>
        <p:nvSpPr>
          <p:cNvPr id="20" name="t51"/>
          <p:cNvSpPr txBox="1"/>
          <p:nvPr/>
        </p:nvSpPr>
        <p:spPr>
          <a:xfrm>
            <a:off x="3447288" y="3044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A7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</a:t>
            </a:r>
            <a:endParaRPr lang="en-US" sz="1100" dirty="0"/>
          </a:p>
        </p:txBody>
      </p:sp>
      <p:sp>
        <p:nvSpPr>
          <p:cNvPr id="21" name="t52"/>
          <p:cNvSpPr txBox="1"/>
          <p:nvPr/>
        </p:nvSpPr>
        <p:spPr>
          <a:xfrm>
            <a:off x="3447288" y="3383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prompt + output on disk</a:t>
            </a:r>
            <a:endParaRPr lang="en-US" sz="1500" dirty="0"/>
          </a:p>
        </p:txBody>
      </p:sp>
      <p:sp>
        <p:nvSpPr>
          <p:cNvPr id="22" name="t53"/>
          <p:cNvSpPr txBox="1"/>
          <p:nvPr/>
        </p:nvSpPr>
        <p:spPr>
          <a:xfrm>
            <a:off x="3447288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traces/main/&lt;judge&gt;/seed_*/</a:t>
            </a:r>
            <a:endParaRPr lang="en-US" sz="1100" dirty="0"/>
          </a:p>
        </p:txBody>
      </p:sp>
      <p:sp>
        <p:nvSpPr>
          <p:cNvPr id="23" name="r54"/>
          <p:cNvSpPr/>
          <p:nvPr/>
        </p:nvSpPr>
        <p:spPr>
          <a:xfrm>
            <a:off x="6071616" y="2880360"/>
            <a:ext cx="2615184" cy="1554480"/>
          </a:xfrm>
          <a:prstGeom prst="roundRect">
            <a:avLst>
              <a:gd name="adj" fmla="val 4706"/>
            </a:avLst>
          </a:prstGeom>
          <a:solidFill>
            <a:srgbClr val="EEF1F6"/>
          </a:solidFill>
          <a:ln/>
        </p:spPr>
      </p:sp>
      <p:sp>
        <p:nvSpPr>
          <p:cNvPr id="24" name="t55"/>
          <p:cNvSpPr txBox="1"/>
          <p:nvPr/>
        </p:nvSpPr>
        <p:spPr>
          <a:xfrm>
            <a:off x="6254496" y="3044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A7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00" dirty="0"/>
          </a:p>
        </p:txBody>
      </p:sp>
      <p:sp>
        <p:nvSpPr>
          <p:cNvPr id="25" name="t56"/>
          <p:cNvSpPr txBox="1"/>
          <p:nvPr/>
        </p:nvSpPr>
        <p:spPr>
          <a:xfrm>
            <a:off x="6254496" y="3383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API · local GPU</a:t>
            </a:r>
            <a:endParaRPr lang="en-US" sz="1500" dirty="0"/>
          </a:p>
        </p:txBody>
      </p:sp>
      <p:sp>
        <p:nvSpPr>
          <p:cNvPr id="26" name="t57"/>
          <p:cNvSpPr txBox="1"/>
          <p:nvPr/>
        </p:nvSpPr>
        <p:spPr>
          <a:xfrm>
            <a:off x="6254496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+ latency per requirement</a:t>
            </a:r>
            <a:endParaRPr lang="en-US" sz="11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A9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58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Agreement vs budget (generated set)</a:t>
            </a:r>
            <a:endParaRPr lang="en-US" sz="2800" dirty="0"/>
          </a:p>
        </p:txBody>
      </p:sp>
      <p:sp>
        <p:nvSpPr>
          <p:cNvPr id="3" name="r59"/>
          <p:cNvSpPr/>
          <p:nvPr/>
        </p:nvSpPr>
        <p:spPr>
          <a:xfrm>
            <a:off x="457200" y="1051560"/>
            <a:ext cx="5760720" cy="3566160"/>
          </a:xfrm>
          <a:prstGeom prst="roundRect">
            <a:avLst>
              <a:gd name="adj" fmla="val 2051"/>
            </a:avLst>
          </a:prstGeom>
          <a:solidFill>
            <a:srgbClr val="EEF1F6"/>
          </a:solidFill>
          <a:ln w="12700">
            <a:solidFill>
              <a:srgbClr val="6C7A96"/>
            </a:solidFill>
            <a:prstDash val="dash"/>
          </a:ln>
        </p:spPr>
      </p:sp>
      <p:sp>
        <p:nvSpPr>
          <p:cNvPr id="4" name="t60"/>
          <p:cNvSpPr txBox="1"/>
          <p:nvPr/>
        </p:nvSpPr>
        <p:spPr>
          <a:xfrm>
            <a:off x="640080" y="1051560"/>
            <a:ext cx="5394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C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[Figure 1: agreement vs tokens per requirement]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6C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results/main/fig1_budget_curve.png</a:t>
            </a:r>
            <a:endParaRPr lang="en-US" sz="1300" dirty="0"/>
          </a:p>
        </p:txBody>
      </p:sp>
      <p:sp>
        <p:nvSpPr>
          <p:cNvPr id="5" name="r61"/>
          <p:cNvSpPr/>
          <p:nvPr/>
        </p:nvSpPr>
        <p:spPr>
          <a:xfrm>
            <a:off x="6400800" y="1097280"/>
            <a:ext cx="2286000" cy="1600200"/>
          </a:xfrm>
          <a:prstGeom prst="roundRect">
            <a:avLst>
              <a:gd name="adj" fmla="val 4571"/>
            </a:avLst>
          </a:prstGeom>
          <a:solidFill>
            <a:srgbClr val="EEF1F6"/>
          </a:solidFill>
          <a:ln/>
        </p:spPr>
      </p:sp>
      <p:sp>
        <p:nvSpPr>
          <p:cNvPr id="6" name="t62"/>
          <p:cNvSpPr txBox="1"/>
          <p:nvPr/>
        </p:nvSpPr>
        <p:spPr>
          <a:xfrm>
            <a:off x="6583680" y="1234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@ k=1</a:t>
            </a:r>
            <a:endParaRPr lang="en-US" sz="1200" dirty="0"/>
          </a:p>
        </p:txBody>
      </p:sp>
      <p:sp>
        <p:nvSpPr>
          <p:cNvPr id="7" name="t63"/>
          <p:cNvSpPr txBox="1"/>
          <p:nvPr/>
        </p:nvSpPr>
        <p:spPr>
          <a:xfrm>
            <a:off x="6583680" y="1554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09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[fill]</a:t>
            </a:r>
            <a:endParaRPr lang="en-US" sz="1800" dirty="0"/>
          </a:p>
        </p:txBody>
      </p:sp>
      <p:sp>
        <p:nvSpPr>
          <p:cNvPr id="8" name="t64"/>
          <p:cNvSpPr txBox="1"/>
          <p:nvPr/>
        </p:nvSpPr>
        <p:spPr>
          <a:xfrm>
            <a:off x="6583680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[fill] · [fill] tok</a:t>
            </a:r>
            <a:endParaRPr lang="en-US" sz="1100" dirty="0"/>
          </a:p>
        </p:txBody>
      </p:sp>
      <p:sp>
        <p:nvSpPr>
          <p:cNvPr id="9" name="r65"/>
          <p:cNvSpPr/>
          <p:nvPr/>
        </p:nvSpPr>
        <p:spPr>
          <a:xfrm>
            <a:off x="6400800" y="2880360"/>
            <a:ext cx="2286000" cy="1600200"/>
          </a:xfrm>
          <a:prstGeom prst="roundRect">
            <a:avLst>
              <a:gd name="adj" fmla="val 4571"/>
            </a:avLst>
          </a:prstGeom>
          <a:solidFill>
            <a:srgbClr val="EEF1F6"/>
          </a:solidFill>
          <a:ln/>
        </p:spPr>
      </p:sp>
      <p:sp>
        <p:nvSpPr>
          <p:cNvPr id="10" name="t66"/>
          <p:cNvSpPr txBox="1"/>
          <p:nvPr/>
        </p:nvSpPr>
        <p:spPr>
          <a:xfrm>
            <a:off x="6583680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@ k=1</a:t>
            </a:r>
            <a:endParaRPr lang="en-US" sz="1200" dirty="0"/>
          </a:p>
        </p:txBody>
      </p:sp>
      <p:sp>
        <p:nvSpPr>
          <p:cNvPr id="11" name="t67"/>
          <p:cNvSpPr txBox="1"/>
          <p:nvPr/>
        </p:nvSpPr>
        <p:spPr>
          <a:xfrm>
            <a:off x="6583680" y="3337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6C7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[fill]</a:t>
            </a:r>
            <a:endParaRPr lang="en-US" sz="1800" dirty="0"/>
          </a:p>
        </p:txBody>
      </p:sp>
      <p:sp>
        <p:nvSpPr>
          <p:cNvPr id="12" name="t68"/>
          <p:cNvSpPr txBox="1"/>
          <p:nvPr/>
        </p:nvSpPr>
        <p:spPr>
          <a:xfrm>
            <a:off x="6583680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[fill] · [fill] tok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A9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69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Matched budget and ablation</a:t>
            </a:r>
            <a:endParaRPr lang="en-US" sz="2800" dirty="0"/>
          </a:p>
        </p:txBody>
      </p:sp>
      <p:sp>
        <p:nvSpPr>
          <p:cNvPr id="3" name="t70"/>
          <p:cNvSpPr txBox="1"/>
          <p:nvPr/>
        </p:nvSpPr>
        <p:spPr>
          <a:xfrm>
            <a:off x="457200" y="1051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2 · equal tokens</a:t>
            </a:r>
            <a:endParaRPr lang="en-US" sz="1400" dirty="0"/>
          </a:p>
        </p:txBody>
      </p:sp>
      <p:graphicFrame>
        <p:nvGraphicFramePr>
          <p:cNvPr id="7" name="tbl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4023360" cy="1298448"/>
        </p:xfrm>
        <a:graphic>
          <a:graphicData uri="http://schemas.openxmlformats.org/drawingml/2006/table">
            <a:tbl>
              <a:tblPr/>
              <a:tblGrid>
                <a:gridCol w="1341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agent@1 vs llm@k*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[fill]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[fill]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agent@k* vs llm@1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[fill]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[fill]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72"/>
          <p:cNvSpPr txBox="1"/>
          <p:nvPr/>
        </p:nvSpPr>
        <p:spPr>
          <a:xfrm>
            <a:off x="4663440" y="1051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3 · what the agent's evidence adds (k = 1)</a:t>
            </a:r>
            <a:endParaRPr lang="en-US" sz="1400" dirty="0"/>
          </a:p>
        </p:txBody>
      </p:sp>
      <p:graphicFrame>
        <p:nvGraphicFramePr>
          <p:cNvPr id="13" name="tbl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17320"/>
          <a:ext cx="4023360" cy="1536192"/>
        </p:xfrm>
        <a:graphic>
          <a:graphicData uri="http://schemas.openxmlformats.org/drawingml/2006/table">
            <a:tbl>
              <a:tblPr/>
              <a:tblGrid>
                <a:gridCol w="1341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dump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[fill]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[fill]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 + paths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[fill]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[fill]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 + files read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[fill]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[fill]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74"/>
          <p:cNvSpPr/>
          <p:nvPr/>
        </p:nvSpPr>
        <p:spPr>
          <a:xfrm>
            <a:off x="457200" y="329184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EEF1F6"/>
          </a:solidFill>
          <a:ln w="12700">
            <a:solidFill>
              <a:srgbClr val="6C7A96"/>
            </a:solidFill>
            <a:prstDash val="dash"/>
          </a:ln>
        </p:spPr>
      </p:sp>
      <p:sp>
        <p:nvSpPr>
          <p:cNvPr id="8" name="t75"/>
          <p:cNvSpPr txBox="1"/>
          <p:nvPr/>
        </p:nvSpPr>
        <p:spPr>
          <a:xfrm>
            <a:off x="640080" y="329184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C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[One-sentence takeaway: is the gain from reading the right files, or from spending more tokens?]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A9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76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39 check and why κ matters</a:t>
            </a:r>
            <a:endParaRPr lang="en-US" sz="2800" dirty="0"/>
          </a:p>
        </p:txBody>
      </p:sp>
      <p:sp>
        <p:nvSpPr>
          <p:cNvPr id="3" name="r77"/>
          <p:cNvSpPr/>
          <p:nvPr/>
        </p:nvSpPr>
        <p:spPr>
          <a:xfrm>
            <a:off x="457200" y="1097280"/>
            <a:ext cx="2615184" cy="1463040"/>
          </a:xfrm>
          <a:prstGeom prst="roundRect">
            <a:avLst>
              <a:gd name="adj" fmla="val 5000"/>
            </a:avLst>
          </a:prstGeom>
          <a:solidFill>
            <a:srgbClr val="EEF1F6"/>
          </a:solidFill>
          <a:ln/>
        </p:spPr>
      </p:sp>
      <p:sp>
        <p:nvSpPr>
          <p:cNvPr id="4" name="t78"/>
          <p:cNvSpPr txBox="1"/>
          <p:nvPr/>
        </p:nvSpPr>
        <p:spPr>
          <a:xfrm>
            <a:off x="640080" y="1234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09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[fill]</a:t>
            </a:r>
            <a:endParaRPr lang="en-US" sz="2400" dirty="0"/>
          </a:p>
        </p:txBody>
      </p:sp>
      <p:sp>
        <p:nvSpPr>
          <p:cNvPr id="5" name="t79"/>
          <p:cNvSpPr txBox="1"/>
          <p:nvPr/>
        </p:nvSpPr>
        <p:spPr>
          <a:xfrm>
            <a:off x="64008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(ours, 7B)</a:t>
            </a:r>
            <a:endParaRPr lang="en-US" sz="1300" dirty="0"/>
          </a:p>
        </p:txBody>
      </p:sp>
      <p:sp>
        <p:nvSpPr>
          <p:cNvPr id="6" name="r80"/>
          <p:cNvSpPr/>
          <p:nvPr/>
        </p:nvSpPr>
        <p:spPr>
          <a:xfrm>
            <a:off x="3264408" y="1097280"/>
            <a:ext cx="2615184" cy="1463040"/>
          </a:xfrm>
          <a:prstGeom prst="roundRect">
            <a:avLst>
              <a:gd name="adj" fmla="val 5000"/>
            </a:avLst>
          </a:prstGeom>
          <a:solidFill>
            <a:srgbClr val="EEF1F6"/>
          </a:solidFill>
          <a:ln/>
        </p:spPr>
      </p:sp>
      <p:sp>
        <p:nvSpPr>
          <p:cNvPr id="7" name="t81"/>
          <p:cNvSpPr txBox="1"/>
          <p:nvPr/>
        </p:nvSpPr>
        <p:spPr>
          <a:xfrm>
            <a:off x="3447288" y="1234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C7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[fill]</a:t>
            </a:r>
            <a:endParaRPr lang="en-US" sz="2400" dirty="0"/>
          </a:p>
        </p:txBody>
      </p:sp>
      <p:sp>
        <p:nvSpPr>
          <p:cNvPr id="8" name="t82"/>
          <p:cNvSpPr txBox="1"/>
          <p:nvPr/>
        </p:nvSpPr>
        <p:spPr>
          <a:xfrm>
            <a:off x="3447288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(ours, 7B)</a:t>
            </a:r>
            <a:endParaRPr lang="en-US" sz="1300" dirty="0"/>
          </a:p>
        </p:txBody>
      </p:sp>
      <p:sp>
        <p:nvSpPr>
          <p:cNvPr id="9" name="r83"/>
          <p:cNvSpPr/>
          <p:nvPr/>
        </p:nvSpPr>
        <p:spPr>
          <a:xfrm>
            <a:off x="6071616" y="1097280"/>
            <a:ext cx="2615184" cy="1463040"/>
          </a:xfrm>
          <a:prstGeom prst="roundRect">
            <a:avLst>
              <a:gd name="adj" fmla="val 5000"/>
            </a:avLst>
          </a:prstGeom>
          <a:solidFill>
            <a:srgbClr val="EEF1F6"/>
          </a:solidFill>
          <a:ln/>
        </p:spPr>
      </p:sp>
      <p:sp>
        <p:nvSpPr>
          <p:cNvPr id="10" name="t84"/>
          <p:cNvSpPr txBox="1"/>
          <p:nvPr/>
        </p:nvSpPr>
        <p:spPr>
          <a:xfrm>
            <a:off x="6254496" y="1234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A7D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90.4 / 60.4%</a:t>
            </a:r>
            <a:endParaRPr lang="en-US" sz="2400" dirty="0"/>
          </a:p>
        </p:txBody>
      </p:sp>
      <p:sp>
        <p:nvSpPr>
          <p:cNvPr id="11" name="t85"/>
          <p:cNvSpPr txBox="1"/>
          <p:nvPr/>
        </p:nvSpPr>
        <p:spPr>
          <a:xfrm>
            <a:off x="6254496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Paper, agent / LLM</a:t>
            </a:r>
            <a:endParaRPr lang="en-US" sz="1300" dirty="0"/>
          </a:p>
        </p:txBody>
      </p:sp>
      <p:sp>
        <p:nvSpPr>
          <p:cNvPr id="12" name="t86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7 requirements on the original workspace: a sanity check, not a result. Paper: GPT-4o, all 55 tasks, black-box.</a:t>
            </a:r>
            <a:endParaRPr lang="en-US" sz="1300" dirty="0"/>
          </a:p>
        </p:txBody>
      </p:sp>
      <p:sp>
        <p:nvSpPr>
          <p:cNvPr id="13" name="r87"/>
          <p:cNvSpPr/>
          <p:nvPr/>
        </p:nvSpPr>
        <p:spPr>
          <a:xfrm>
            <a:off x="457200" y="333756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6E3C3"/>
          </a:solidFill>
          <a:ln/>
        </p:spPr>
      </p:sp>
      <p:sp>
        <p:nvSpPr>
          <p:cNvPr id="14" name="t88"/>
          <p:cNvSpPr txBox="1"/>
          <p:nvPr/>
        </p:nvSpPr>
        <p:spPr>
          <a:xfrm>
            <a:off x="731520" y="34290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[base rate]% of requirements are satisfied, so answering "no" every time already scores [100 − base rate]% alignment, with κ = 0.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A9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89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failure, read from its trace</a:t>
            </a:r>
            <a:endParaRPr lang="en-US" sz="2800" dirty="0"/>
          </a:p>
        </p:txBody>
      </p:sp>
      <p:sp>
        <p:nvSpPr>
          <p:cNvPr id="3" name="b90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rgbClr val="3A7D7C"/>
          </a:solidFill>
          <a:ln/>
        </p:spPr>
      </p:sp>
      <p:sp>
        <p:nvSpPr>
          <p:cNvPr id="4" name="t91"/>
          <p:cNvSpPr txBox="1"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92"/>
          <p:cNvSpPr txBox="1"/>
          <p:nvPr/>
        </p:nvSpPr>
        <p:spPr>
          <a:xfrm>
            <a:off x="1051560" y="1097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400" dirty="0"/>
          </a:p>
        </p:txBody>
      </p:sp>
      <p:sp>
        <p:nvSpPr>
          <p:cNvPr id="6" name="r93"/>
          <p:cNvSpPr/>
          <p:nvPr/>
        </p:nvSpPr>
        <p:spPr>
          <a:xfrm>
            <a:off x="2926080" y="1069848"/>
            <a:ext cx="5760720" cy="512064"/>
          </a:xfrm>
          <a:prstGeom prst="roundRect">
            <a:avLst>
              <a:gd name="adj" fmla="val 14286"/>
            </a:avLst>
          </a:prstGeom>
          <a:solidFill>
            <a:srgbClr val="EEF1F6"/>
          </a:solidFill>
          <a:ln w="12700">
            <a:solidFill>
              <a:srgbClr val="6C7A96"/>
            </a:solidFill>
            <a:prstDash val="dash"/>
          </a:ln>
        </p:spPr>
      </p:sp>
      <p:sp>
        <p:nvSpPr>
          <p:cNvPr id="7" name="t94"/>
          <p:cNvSpPr txBox="1"/>
          <p:nvPr/>
        </p:nvSpPr>
        <p:spPr>
          <a:xfrm>
            <a:off x="3108960" y="1069848"/>
            <a:ext cx="5394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C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[from traces/main/agent_judge/seed_*/&lt;task&gt;__R&lt;i&gt;.json]</a:t>
            </a:r>
            <a:endParaRPr lang="en-US" sz="1300" dirty="0"/>
          </a:p>
        </p:txBody>
      </p:sp>
      <p:sp>
        <p:nvSpPr>
          <p:cNvPr id="8" name="b95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3A7D7C"/>
          </a:solidFill>
          <a:ln/>
        </p:spPr>
      </p:sp>
      <p:sp>
        <p:nvSpPr>
          <p:cNvPr id="9" name="t96"/>
          <p:cNvSpPr txBox="1"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97"/>
          <p:cNvSpPr txBox="1"/>
          <p:nvPr/>
        </p:nvSpPr>
        <p:spPr>
          <a:xfrm>
            <a:off x="105156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returned</a:t>
            </a:r>
            <a:endParaRPr lang="en-US" sz="1400" dirty="0"/>
          </a:p>
        </p:txBody>
      </p:sp>
      <p:sp>
        <p:nvSpPr>
          <p:cNvPr id="11" name="r98"/>
          <p:cNvSpPr/>
          <p:nvPr/>
        </p:nvSpPr>
        <p:spPr>
          <a:xfrm>
            <a:off x="2926080" y="1755648"/>
            <a:ext cx="5760720" cy="512064"/>
          </a:xfrm>
          <a:prstGeom prst="roundRect">
            <a:avLst>
              <a:gd name="adj" fmla="val 14286"/>
            </a:avLst>
          </a:prstGeom>
          <a:solidFill>
            <a:srgbClr val="EEF1F6"/>
          </a:solidFill>
          <a:ln w="12700">
            <a:solidFill>
              <a:srgbClr val="6C7A96"/>
            </a:solidFill>
            <a:prstDash val="dash"/>
          </a:ln>
        </p:spPr>
      </p:sp>
      <p:sp>
        <p:nvSpPr>
          <p:cNvPr id="12" name="t99"/>
          <p:cNvSpPr txBox="1"/>
          <p:nvPr/>
        </p:nvSpPr>
        <p:spPr>
          <a:xfrm>
            <a:off x="3108960" y="1755648"/>
            <a:ext cx="5394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C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[from traces/main/agent_judge/seed_*/&lt;task&gt;__R&lt;i&gt;.json]</a:t>
            </a:r>
            <a:endParaRPr lang="en-US" sz="1300" dirty="0"/>
          </a:p>
        </p:txBody>
      </p:sp>
      <p:sp>
        <p:nvSpPr>
          <p:cNvPr id="13" name="b100"/>
          <p:cNvSpPr/>
          <p:nvPr/>
        </p:nvSpPr>
        <p:spPr>
          <a:xfrm>
            <a:off x="457200" y="2468880"/>
            <a:ext cx="457200" cy="457200"/>
          </a:xfrm>
          <a:prstGeom prst="ellipse">
            <a:avLst/>
          </a:prstGeom>
          <a:solidFill>
            <a:srgbClr val="3A7D7C"/>
          </a:solidFill>
          <a:ln/>
        </p:spPr>
      </p:sp>
      <p:sp>
        <p:nvSpPr>
          <p:cNvPr id="14" name="t101"/>
          <p:cNvSpPr txBox="1"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102"/>
          <p:cNvSpPr txBox="1"/>
          <p:nvPr/>
        </p:nvSpPr>
        <p:spPr>
          <a:xfrm>
            <a:off x="1051560" y="2468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opened</a:t>
            </a:r>
            <a:endParaRPr lang="en-US" sz="1400" dirty="0"/>
          </a:p>
        </p:txBody>
      </p:sp>
      <p:sp>
        <p:nvSpPr>
          <p:cNvPr id="16" name="r103"/>
          <p:cNvSpPr/>
          <p:nvPr/>
        </p:nvSpPr>
        <p:spPr>
          <a:xfrm>
            <a:off x="2926080" y="2441448"/>
            <a:ext cx="5760720" cy="512064"/>
          </a:xfrm>
          <a:prstGeom prst="roundRect">
            <a:avLst>
              <a:gd name="adj" fmla="val 14286"/>
            </a:avLst>
          </a:prstGeom>
          <a:solidFill>
            <a:srgbClr val="EEF1F6"/>
          </a:solidFill>
          <a:ln w="12700">
            <a:solidFill>
              <a:srgbClr val="6C7A96"/>
            </a:solidFill>
            <a:prstDash val="dash"/>
          </a:ln>
        </p:spPr>
      </p:sp>
      <p:sp>
        <p:nvSpPr>
          <p:cNvPr id="17" name="t104"/>
          <p:cNvSpPr txBox="1"/>
          <p:nvPr/>
        </p:nvSpPr>
        <p:spPr>
          <a:xfrm>
            <a:off x="3108960" y="2441448"/>
            <a:ext cx="5394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C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[from traces/main/agent_judge/seed_*/&lt;task&gt;__R&lt;i&gt;.json]</a:t>
            </a:r>
            <a:endParaRPr lang="en-US" sz="1300" dirty="0"/>
          </a:p>
        </p:txBody>
      </p:sp>
      <p:sp>
        <p:nvSpPr>
          <p:cNvPr id="18" name="b105"/>
          <p:cNvSpPr/>
          <p:nvPr/>
        </p:nvSpPr>
        <p:spPr>
          <a:xfrm>
            <a:off x="457200" y="3154680"/>
            <a:ext cx="457200" cy="457200"/>
          </a:xfrm>
          <a:prstGeom prst="ellipse">
            <a:avLst/>
          </a:prstGeom>
          <a:solidFill>
            <a:srgbClr val="3A7D7C"/>
          </a:solidFill>
          <a:ln/>
        </p:spPr>
      </p:sp>
      <p:sp>
        <p:nvSpPr>
          <p:cNvPr id="19" name="t106"/>
          <p:cNvSpPr txBox="1"/>
          <p:nvPr/>
        </p:nvSpPr>
        <p:spPr>
          <a:xfrm>
            <a:off x="4572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107"/>
          <p:cNvSpPr txBox="1"/>
          <p:nvPr/>
        </p:nvSpPr>
        <p:spPr>
          <a:xfrm>
            <a:off x="1051560" y="3154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said</a:t>
            </a:r>
            <a:endParaRPr lang="en-US" sz="1400" dirty="0"/>
          </a:p>
        </p:txBody>
      </p:sp>
      <p:sp>
        <p:nvSpPr>
          <p:cNvPr id="21" name="r108"/>
          <p:cNvSpPr/>
          <p:nvPr/>
        </p:nvSpPr>
        <p:spPr>
          <a:xfrm>
            <a:off x="2926080" y="3127248"/>
            <a:ext cx="5760720" cy="512064"/>
          </a:xfrm>
          <a:prstGeom prst="roundRect">
            <a:avLst>
              <a:gd name="adj" fmla="val 14286"/>
            </a:avLst>
          </a:prstGeom>
          <a:solidFill>
            <a:srgbClr val="EEF1F6"/>
          </a:solidFill>
          <a:ln w="12700">
            <a:solidFill>
              <a:srgbClr val="6C7A96"/>
            </a:solidFill>
            <a:prstDash val="dash"/>
          </a:ln>
        </p:spPr>
      </p:sp>
      <p:sp>
        <p:nvSpPr>
          <p:cNvPr id="22" name="t109"/>
          <p:cNvSpPr txBox="1"/>
          <p:nvPr/>
        </p:nvSpPr>
        <p:spPr>
          <a:xfrm>
            <a:off x="3108960" y="3127248"/>
            <a:ext cx="5394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C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[from traces/main/agent_judge/seed_*/&lt;task&gt;__R&lt;i&gt;.json]</a:t>
            </a:r>
            <a:endParaRPr lang="en-US" sz="1300" dirty="0"/>
          </a:p>
        </p:txBody>
      </p:sp>
      <p:sp>
        <p:nvSpPr>
          <p:cNvPr id="23" name="b110"/>
          <p:cNvSpPr/>
          <p:nvPr/>
        </p:nvSpPr>
        <p:spPr>
          <a:xfrm>
            <a:off x="457200" y="3840480"/>
            <a:ext cx="457200" cy="457200"/>
          </a:xfrm>
          <a:prstGeom prst="ellipse">
            <a:avLst/>
          </a:prstGeom>
          <a:solidFill>
            <a:srgbClr val="9E2A2B"/>
          </a:solidFill>
          <a:ln/>
        </p:spPr>
      </p:sp>
      <p:sp>
        <p:nvSpPr>
          <p:cNvPr id="24" name="t111"/>
          <p:cNvSpPr txBox="1"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112"/>
          <p:cNvSpPr txBox="1"/>
          <p:nvPr/>
        </p:nvSpPr>
        <p:spPr>
          <a:xfrm>
            <a:off x="105156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1400" dirty="0"/>
          </a:p>
        </p:txBody>
      </p:sp>
      <p:sp>
        <p:nvSpPr>
          <p:cNvPr id="26" name="r113"/>
          <p:cNvSpPr/>
          <p:nvPr/>
        </p:nvSpPr>
        <p:spPr>
          <a:xfrm>
            <a:off x="2926080" y="3813048"/>
            <a:ext cx="5760720" cy="512064"/>
          </a:xfrm>
          <a:prstGeom prst="roundRect">
            <a:avLst>
              <a:gd name="adj" fmla="val 14286"/>
            </a:avLst>
          </a:prstGeom>
          <a:solidFill>
            <a:srgbClr val="EEF1F6"/>
          </a:solidFill>
          <a:ln w="12700">
            <a:solidFill>
              <a:srgbClr val="6C7A96"/>
            </a:solidFill>
            <a:prstDash val="dash"/>
          </a:ln>
        </p:spPr>
      </p:sp>
      <p:sp>
        <p:nvSpPr>
          <p:cNvPr id="27" name="t114"/>
          <p:cNvSpPr txBox="1"/>
          <p:nvPr/>
        </p:nvSpPr>
        <p:spPr>
          <a:xfrm>
            <a:off x="3108960" y="3813048"/>
            <a:ext cx="5394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C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[from traces/main/agent_judge/seed_*/&lt;task&gt;__R&lt;i&gt;.json]</a:t>
            </a:r>
            <a:endParaRPr lang="en-US" sz="13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A9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15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four more weeks</a:t>
            </a:r>
            <a:endParaRPr lang="en-US" sz="2800" dirty="0"/>
          </a:p>
        </p:txBody>
      </p:sp>
      <p:sp>
        <p:nvSpPr>
          <p:cNvPr id="3" name="r116"/>
          <p:cNvSpPr/>
          <p:nvPr/>
        </p:nvSpPr>
        <p:spPr>
          <a:xfrm>
            <a:off x="457200" y="109728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EEF1F6"/>
          </a:solidFill>
          <a:ln/>
        </p:spPr>
      </p:sp>
      <p:sp>
        <p:nvSpPr>
          <p:cNvPr id="4" name="t117"/>
          <p:cNvSpPr txBox="1"/>
          <p:nvPr/>
        </p:nvSpPr>
        <p:spPr>
          <a:xfrm>
            <a:off x="731520" y="1280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9E2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5" name="t118"/>
          <p:cNvSpPr txBox="1"/>
          <p:nvPr/>
        </p:nvSpPr>
        <p:spPr>
          <a:xfrm>
            <a:off x="731520" y="182880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labeller; agreement is with my reading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workspaces ≠ OpenHands outputs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judge model; images unseen (text-only)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0.7 adds variance at k = 1</a:t>
            </a:r>
            <a:endParaRPr lang="en-US" sz="1400" dirty="0"/>
          </a:p>
        </p:txBody>
      </p:sp>
      <p:sp>
        <p:nvSpPr>
          <p:cNvPr id="6" name="r119"/>
          <p:cNvSpPr/>
          <p:nvPr/>
        </p:nvSpPr>
        <p:spPr>
          <a:xfrm>
            <a:off x="4663440" y="109728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EEF1F6"/>
          </a:solidFill>
          <a:ln/>
        </p:spPr>
      </p:sp>
      <p:sp>
        <p:nvSpPr>
          <p:cNvPr id="7" name="t120"/>
          <p:cNvSpPr txBox="1"/>
          <p:nvPr/>
        </p:nvSpPr>
        <p:spPr>
          <a:xfrm>
            <a:off x="4937760" y="1280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3A7D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more weeks</a:t>
            </a:r>
            <a:endParaRPr lang="en-US" sz="1800" dirty="0"/>
          </a:p>
        </p:txBody>
      </p:sp>
      <p:sp>
        <p:nvSpPr>
          <p:cNvPr id="8" name="t121"/>
          <p:cNvSpPr txBox="1"/>
          <p:nvPr/>
        </p:nvSpPr>
        <p:spPr>
          <a:xfrm>
            <a:off x="4937760" y="182880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labeller, inter-rater κ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judge family (Phase 1 Gap 3)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Gray-box: use the saved trajectories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authors again for the 54 workspaces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A9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22"/>
          <p:cNvSpPr txBox="1"/>
          <p:nvPr/>
        </p:nvSpPr>
        <p:spPr>
          <a:xfrm>
            <a:off x="548640" y="685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09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3" name="t123"/>
          <p:cNvSpPr txBox="1"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requirement, both judges, every step</a:t>
            </a:r>
            <a:endParaRPr lang="en-US" sz="3000" dirty="0"/>
          </a:p>
        </p:txBody>
      </p:sp>
      <p:sp>
        <p:nvSpPr>
          <p:cNvPr id="4" name="r124"/>
          <p:cNvSpPr/>
          <p:nvPr/>
        </p:nvSpPr>
        <p:spPr>
          <a:xfrm>
            <a:off x="548640" y="228600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33415C"/>
          </a:solidFill>
          <a:ln/>
        </p:spPr>
      </p:sp>
      <p:sp>
        <p:nvSpPr>
          <p:cNvPr id="5" name="t125"/>
          <p:cNvSpPr txBox="1"/>
          <p:nvPr/>
        </p:nvSpPr>
        <p:spPr>
          <a:xfrm>
            <a:off x="777240" y="22860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6E3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scripts/demo.py --task 39_Drug_Response_Prediction_SVM_GDSC_ML --req 5</a:t>
            </a:r>
            <a:endParaRPr lang="en-US" sz="1300" dirty="0"/>
          </a:p>
        </p:txBody>
      </p:sp>
      <p:sp>
        <p:nvSpPr>
          <p:cNvPr id="6" name="t126"/>
          <p:cNvSpPr txBox="1"/>
          <p:nvPr/>
        </p:nvSpPr>
        <p:spPr>
          <a:xfrm>
            <a:off x="548640" y="32918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human label · locate → read → 3 votes for the agent · 3 votes for the LLM judge · tokens used. Backup: a ≤ 3-minute screen recording.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1194</Words>
  <Application>Microsoft Office PowerPoint</Application>
  <PresentationFormat>On-screen Show (16:9)</PresentationFormat>
  <Paragraphs>148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AI465 RP2 - Agent-as-a-Judge vs budget-matched LLM-as-a-Judge</dc:title>
  <dc:subject>PptxGenJS Presentation</dc:subject>
  <dc:creator>U23AI035</dc:creator>
  <cp:lastModifiedBy>Jaival Chauhan</cp:lastModifiedBy>
  <cp:revision>2</cp:revision>
  <dcterms:created xsi:type="dcterms:W3CDTF">2026-10-24T10:22:35Z</dcterms:created>
  <dcterms:modified xsi:type="dcterms:W3CDTF">2026-10-24T10:28:06Z</dcterms:modified>
</cp:coreProperties>
</file>